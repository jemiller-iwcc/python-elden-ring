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37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B62AFE-D530-404F-A38A-6975779D9E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8221F-8F3F-44EC-A6C2-76C2636363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68EE5C-3273-4102-8099-A8BD238CF41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1.png"/><Relationship Id="rId10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9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9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9.png"/><Relationship Id="rId3" Type="http://schemas.openxmlformats.org/officeDocument/2006/relationships/hyperlink" Target="https://github.com/jemiller-iwcc/python-elden-ring" TargetMode="External"/><Relationship Id="rId4" Type="http://schemas.openxmlformats.org/officeDocument/2006/relationships/image" Target="../media/image36.png"/><Relationship Id="rId5" Type="http://schemas.openxmlformats.org/officeDocument/2006/relationships/image" Target="../media/image37.svg"/><Relationship Id="rId6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8.png"/><Relationship Id="rId3" Type="http://schemas.openxmlformats.org/officeDocument/2006/relationships/hyperlink" Target="mailto:jemiller@iwcc.edu" TargetMode="External"/><Relationship Id="rId4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85;p13"/>
          <p:cNvSpPr/>
          <p:nvPr/>
        </p:nvSpPr>
        <p:spPr>
          <a:xfrm>
            <a:off x="2395440" y="1700280"/>
            <a:ext cx="740052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PYTHON: POWER </a:t>
            </a:r>
            <a:br>
              <a:rPr sz="1800"/>
            </a:br>
            <a:r>
              <a:rPr lang="en-US" sz="60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OF THE SCRIPT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86;p13"/>
          <p:cNvSpPr/>
          <p:nvPr/>
        </p:nvSpPr>
        <p:spPr>
          <a:xfrm>
            <a:off x="2571840" y="3948120"/>
            <a:ext cx="70480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Coding the Lands Between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87;p13"/>
          <p:cNvSpPr/>
          <p:nvPr/>
        </p:nvSpPr>
        <p:spPr>
          <a:xfrm>
            <a:off x="2571840" y="4729320"/>
            <a:ext cx="70480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Lato"/>
                <a:ea typeface="Lato"/>
              </a:rPr>
              <a:t>"Arise, Tarnished, and forge thy journey through code."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92;p14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Google Shape;95;p14"/>
          <p:cNvSpPr/>
          <p:nvPr/>
        </p:nvSpPr>
        <p:spPr>
          <a:xfrm>
            <a:off x="4381560" y="6153480"/>
            <a:ext cx="3429000" cy="18720"/>
          </a:xfrm>
          <a:prstGeom prst="rect">
            <a:avLst/>
          </a:prstGeom>
          <a:solidFill>
            <a:srgbClr val="C5A0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26640" bIns="-26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94;p14"/>
          <p:cNvSpPr/>
          <p:nvPr/>
        </p:nvSpPr>
        <p:spPr>
          <a:xfrm>
            <a:off x="2324160" y="1143000"/>
            <a:ext cx="75438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Lato"/>
                <a:ea typeface="Lato"/>
              </a:rPr>
              <a:t>Discovery Days: Python – Creating “Elden Ring”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93;p14"/>
          <p:cNvSpPr/>
          <p:nvPr/>
        </p:nvSpPr>
        <p:spPr>
          <a:xfrm>
            <a:off x="1600200" y="594720"/>
            <a:ext cx="89154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Iowa Western Community College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"/>
          <p:cNvPicPr/>
          <p:nvPr/>
        </p:nvPicPr>
        <p:blipFill>
          <a:blip r:embed="rId2"/>
          <a:stretch/>
        </p:blipFill>
        <p:spPr>
          <a:xfrm>
            <a:off x="3934080" y="1828800"/>
            <a:ext cx="4323960" cy="412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2;p 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Google Shape;95;p 1"/>
          <p:cNvSpPr/>
          <p:nvPr/>
        </p:nvSpPr>
        <p:spPr>
          <a:xfrm>
            <a:off x="4343400" y="4324680"/>
            <a:ext cx="3429000" cy="18720"/>
          </a:xfrm>
          <a:prstGeom prst="rect">
            <a:avLst/>
          </a:prstGeom>
          <a:solidFill>
            <a:srgbClr val="C5A0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26640" bIns="-26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96;p 1"/>
          <p:cNvPicPr/>
          <p:nvPr/>
        </p:nvPicPr>
        <p:blipFill>
          <a:blip r:embed="rId2"/>
          <a:stretch/>
        </p:blipFill>
        <p:spPr>
          <a:xfrm>
            <a:off x="5557680" y="2523960"/>
            <a:ext cx="107604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Google Shape;94;p 1"/>
          <p:cNvSpPr/>
          <p:nvPr/>
        </p:nvSpPr>
        <p:spPr>
          <a:xfrm>
            <a:off x="4390920" y="3571920"/>
            <a:ext cx="34095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66666"/>
                </a:solidFill>
                <a:effectLst/>
                <a:uFillTx/>
                <a:latin typeface="Lato"/>
                <a:ea typeface="Lato"/>
              </a:rPr>
              <a:t>Fundamentals of Output, Color, and Logic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3;p 1"/>
          <p:cNvSpPr/>
          <p:nvPr/>
        </p:nvSpPr>
        <p:spPr>
          <a:xfrm>
            <a:off x="4305600" y="3267000"/>
            <a:ext cx="3580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PART I: THE FIRST GRACE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03;p 2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1: OUTPUT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04;p 2"/>
          <p:cNvSpPr/>
          <p:nvPr/>
        </p:nvSpPr>
        <p:spPr>
          <a:xfrm>
            <a:off x="581040" y="216216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 </a:t>
            </a: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print()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function is our first incantation. It is the first that you will learn.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13;p 2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MANIFESTING REALITY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114;p 2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493200" y="3165840"/>
            <a:ext cx="5648040" cy="92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04;p 1"/>
          <p:cNvSpPr/>
          <p:nvPr/>
        </p:nvSpPr>
        <p:spPr>
          <a:xfrm>
            <a:off x="606960" y="438768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This will output the words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Hello, World! i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n the terminal: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2"/>
          <a:stretch/>
        </p:blipFill>
        <p:spPr>
          <a:xfrm>
            <a:off x="636840" y="4928040"/>
            <a:ext cx="2552400" cy="4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 1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1: OUTPUT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04;p 3"/>
          <p:cNvSpPr/>
          <p:nvPr/>
        </p:nvSpPr>
        <p:spPr>
          <a:xfrm>
            <a:off x="581040" y="2162160"/>
            <a:ext cx="98791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Step1_pseudocode.py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Step1.py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On line 7, use the print() function to output the words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You Died.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to the screen.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Don’t forget the syntax: print(“Your Text”)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13;p 1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MANIFESTING REALITY: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14;p 1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03;p 3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1: Running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04;p 4"/>
          <p:cNvSpPr/>
          <p:nvPr/>
        </p:nvSpPr>
        <p:spPr>
          <a:xfrm>
            <a:off x="485640" y="4916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Step1.py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473220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1;p15"/>
          <p:cNvPicPr/>
          <p:nvPr/>
        </p:nvPicPr>
        <p:blipFill>
          <a:blip r:embed="rId1"/>
          <a:stretch/>
        </p:blipFill>
        <p:spPr>
          <a:xfrm>
            <a:off x="-17280" y="15588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Google Shape;103;p15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1a: OUTPUT, but with color!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104;p15"/>
          <p:cNvSpPr/>
          <p:nvPr/>
        </p:nvSpPr>
        <p:spPr>
          <a:xfrm>
            <a:off x="581040" y="234072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 </a:t>
            </a: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print()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function is our first incantation. We use ANSI escape sequences for color.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105;p15"/>
          <p:cNvPicPr/>
          <p:nvPr/>
        </p:nvPicPr>
        <p:blipFill>
          <a:blip r:embed="rId2"/>
          <a:stretch/>
        </p:blipFill>
        <p:spPr>
          <a:xfrm>
            <a:off x="8691480" y="1905120"/>
            <a:ext cx="5140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Google Shape;106;p15"/>
          <p:cNvSpPr/>
          <p:nvPr/>
        </p:nvSpPr>
        <p:spPr>
          <a:xfrm>
            <a:off x="6581880" y="2552760"/>
            <a:ext cx="47336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Important: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Escape codes like \033[91m tell the terminal to change state. We must </a:t>
            </a: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Reset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the color or the screen will remain forever!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107;p15"/>
          <p:cNvSpPr/>
          <p:nvPr/>
        </p:nvSpPr>
        <p:spPr>
          <a:xfrm>
            <a:off x="809640" y="3067200"/>
            <a:ext cx="2454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272A4"/>
                </a:solidFill>
                <a:effectLst/>
                <a:uFillTx/>
                <a:latin typeface="Fira Code"/>
                <a:ea typeface="Fira Code"/>
              </a:rPr>
              <a:t># Color Examples: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113;p15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MANIFESTING REALITY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14;p15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59440" y="3478320"/>
            <a:ext cx="3354480" cy="346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BF0041"/>
                </a:solidFill>
                <a:effectLst/>
                <a:uFillTx/>
                <a:latin typeface="Arial"/>
                <a:ea typeface="Linux Libertine G"/>
              </a:rPr>
              <a:t>RED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 = "\033[91m"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158466"/>
                </a:solidFill>
                <a:effectLst/>
                <a:uFillTx/>
                <a:latin typeface="Arial"/>
                <a:ea typeface="Linux Libertine G"/>
              </a:rPr>
              <a:t>GREEN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 = "\033[92m"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00"/>
                </a:solidFill>
                <a:effectLst/>
                <a:uFillTx/>
                <a:latin typeface="Arial"/>
                <a:ea typeface="Linux Libertine G"/>
              </a:rPr>
              <a:t>YELLOW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 = "\033[93m"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3465A4"/>
                </a:solidFill>
                <a:effectLst/>
                <a:uFillTx/>
                <a:latin typeface="Arial"/>
                <a:ea typeface="Linux Libertine G"/>
              </a:rPr>
              <a:t>CYAN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 = "\033[96m"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RESET = "\033[0m"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03;p 4"/>
          <p:cNvSpPr/>
          <p:nvPr/>
        </p:nvSpPr>
        <p:spPr>
          <a:xfrm>
            <a:off x="581400" y="16099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1a: OUTPUT, but with color!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103;p 5"/>
          <p:cNvSpPr/>
          <p:nvPr/>
        </p:nvSpPr>
        <p:spPr>
          <a:xfrm>
            <a:off x="7447680" y="3748680"/>
            <a:ext cx="3172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How does it look?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3"/>
          <a:stretch/>
        </p:blipFill>
        <p:spPr>
          <a:xfrm>
            <a:off x="5963040" y="4263480"/>
            <a:ext cx="579096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/>
          <p:cNvPicPr/>
          <p:nvPr/>
        </p:nvPicPr>
        <p:blipFill>
          <a:blip r:embed="rId4"/>
          <a:stretch/>
        </p:blipFill>
        <p:spPr>
          <a:xfrm>
            <a:off x="7752960" y="5429880"/>
            <a:ext cx="2695320" cy="46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3;p 6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1: OUTPUT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04;p 7"/>
          <p:cNvSpPr/>
          <p:nvPr/>
        </p:nvSpPr>
        <p:spPr>
          <a:xfrm>
            <a:off x="581040" y="2162160"/>
            <a:ext cx="9879120" cy="21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open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Step1a.py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On line 7, edit the print() function to output the words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You Died.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to the screen in a befitting red color.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Don’t forget the syntax: print(“’open escape sequence’Your Text’reset escape sequence’”)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BF0041"/>
                </a:solidFill>
                <a:effectLst/>
                <a:uFillTx/>
                <a:latin typeface="Arial"/>
                <a:ea typeface="Linux Libertine G"/>
              </a:rPr>
              <a:t>RED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 = \033[91m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Linux Libertine G"/>
              </a:rPr>
              <a:t>RESET = \033[0m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13;p 4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Color: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14;p 4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3;p 8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1: Running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4;p 8"/>
          <p:cNvSpPr/>
          <p:nvPr/>
        </p:nvSpPr>
        <p:spPr>
          <a:xfrm>
            <a:off x="485640" y="4916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Step1a.py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473220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19;p16"/>
          <p:cNvPicPr/>
          <p:nvPr/>
        </p:nvPicPr>
        <p:blipFill>
          <a:blip r:embed="rId1"/>
          <a:stretch/>
        </p:blipFill>
        <p:spPr>
          <a:xfrm>
            <a:off x="-8640" y="-4676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Google Shape;121;p16"/>
          <p:cNvSpPr/>
          <p:nvPr/>
        </p:nvSpPr>
        <p:spPr>
          <a:xfrm>
            <a:off x="581040" y="160956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If/Elif/Else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logic mirrors the branching choices in the game. We path the player based on their input.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22;p16"/>
          <p:cNvSpPr/>
          <p:nvPr/>
        </p:nvSpPr>
        <p:spPr>
          <a:xfrm>
            <a:off x="6286680" y="180036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Logic Hierarchy: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136;p16"/>
          <p:cNvPicPr/>
          <p:nvPr/>
        </p:nvPicPr>
        <p:blipFill>
          <a:blip r:embed="rId2"/>
          <a:stretch/>
        </p:blipFill>
        <p:spPr>
          <a:xfrm>
            <a:off x="6286680" y="1857240"/>
            <a:ext cx="1710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37;p16"/>
          <p:cNvSpPr/>
          <p:nvPr/>
        </p:nvSpPr>
        <p:spPr>
          <a:xfrm>
            <a:off x="6286680" y="223848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If: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The primary condition.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38;p16"/>
          <p:cNvSpPr/>
          <p:nvPr/>
        </p:nvSpPr>
        <p:spPr>
          <a:xfrm>
            <a:off x="6286680" y="266688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Elif: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Chained alternative conditions.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39;p16"/>
          <p:cNvSpPr/>
          <p:nvPr/>
        </p:nvSpPr>
        <p:spPr>
          <a:xfrm>
            <a:off x="6286680" y="309564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Else: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The catch-all (the "everything else" path).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40;p16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User Input and Choices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41;p16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22;p 1"/>
          <p:cNvSpPr/>
          <p:nvPr/>
        </p:nvSpPr>
        <p:spPr>
          <a:xfrm>
            <a:off x="6287040" y="180072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Logic Hierarchy: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22;p 2"/>
          <p:cNvSpPr/>
          <p:nvPr/>
        </p:nvSpPr>
        <p:spPr>
          <a:xfrm>
            <a:off x="6123240" y="466164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Input: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 way to interact with the user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22;p 3"/>
          <p:cNvSpPr/>
          <p:nvPr/>
        </p:nvSpPr>
        <p:spPr>
          <a:xfrm>
            <a:off x="6123240" y="353304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Variables: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 way to store a value by the program to be used later.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19;p 1"/>
          <p:cNvPicPr/>
          <p:nvPr/>
        </p:nvPicPr>
        <p:blipFill>
          <a:blip r:embed="rId1"/>
          <a:stretch/>
        </p:blipFill>
        <p:spPr>
          <a:xfrm>
            <a:off x="-8640" y="-4676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40;p 1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User Input and Choices: How it Looks in Python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41;p 1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1032840" y="1632240"/>
            <a:ext cx="8619840" cy="180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3"/>
          <a:stretch/>
        </p:blipFill>
        <p:spPr>
          <a:xfrm>
            <a:off x="1109160" y="3845880"/>
            <a:ext cx="4562280" cy="147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03;p 7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4;p 5"/>
          <p:cNvSpPr/>
          <p:nvPr/>
        </p:nvSpPr>
        <p:spPr>
          <a:xfrm>
            <a:off x="581040" y="2162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Step2_pseudocode.py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Step2.py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Use the commented pesudocode to guide you with using input and if/else statements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3;p 3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User Input and Choices: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4;p 3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3;p 9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4;p 6"/>
          <p:cNvSpPr/>
          <p:nvPr/>
        </p:nvSpPr>
        <p:spPr>
          <a:xfrm>
            <a:off x="485640" y="4916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Step2.py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473220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9;p 2"/>
          <p:cNvSpPr txBox="1"/>
          <p:nvPr/>
        </p:nvSpPr>
        <p:spPr>
          <a:xfrm>
            <a:off x="-8640" y="-467640"/>
            <a:ext cx="12191760" cy="68576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40;p 3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User Input and Choices: Making it case-insensitive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41;p 3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1928160" y="1784520"/>
            <a:ext cx="7505280" cy="7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1896480" y="2736000"/>
            <a:ext cx="4653360" cy="21380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This allows for all input to be read the same: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Bob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bob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BOB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bOb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These all will be read by Python as: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bob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62;p18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63;p18"/>
          <p:cNvPicPr/>
          <p:nvPr/>
        </p:nvPicPr>
        <p:blipFill>
          <a:blip r:embed="rId2"/>
          <a:stretch/>
        </p:blipFill>
        <p:spPr>
          <a:xfrm>
            <a:off x="6286680" y="1609560"/>
            <a:ext cx="5324040" cy="33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64;p18"/>
          <p:cNvPicPr/>
          <p:nvPr/>
        </p:nvPicPr>
        <p:blipFill>
          <a:blip r:embed="rId3"/>
          <a:stretch/>
        </p:blipFill>
        <p:spPr>
          <a:xfrm>
            <a:off x="581040" y="2343240"/>
            <a:ext cx="532404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65;p18"/>
          <p:cNvPicPr/>
          <p:nvPr/>
        </p:nvPicPr>
        <p:blipFill>
          <a:blip r:embed="rId4"/>
          <a:stretch/>
        </p:blipFill>
        <p:spPr>
          <a:xfrm>
            <a:off x="6287400" y="5174280"/>
            <a:ext cx="5324040" cy="73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66;p18"/>
          <p:cNvSpPr/>
          <p:nvPr/>
        </p:nvSpPr>
        <p:spPr>
          <a:xfrm>
            <a:off x="581040" y="160956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 3: Randomness.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We import the random module to simulate the dice rolls of battle.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67;p18"/>
          <p:cNvSpPr/>
          <p:nvPr/>
        </p:nvSpPr>
        <p:spPr>
          <a:xfrm>
            <a:off x="581040" y="3324240"/>
            <a:ext cx="53240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We have the user pick a number. Random simulates the enemy picking a number. Matching numbers means the beast is vanquished. Failure means the player's end.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Google Shape;168;p18"/>
          <p:cNvPicPr/>
          <p:nvPr/>
        </p:nvPicPr>
        <p:blipFill>
          <a:blip r:embed="rId5"/>
          <a:stretch/>
        </p:blipFill>
        <p:spPr>
          <a:xfrm>
            <a:off x="6296040" y="1619280"/>
            <a:ext cx="5304960" cy="331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69;p18"/>
          <p:cNvSpPr/>
          <p:nvPr/>
        </p:nvSpPr>
        <p:spPr>
          <a:xfrm>
            <a:off x="809640" y="2533680"/>
            <a:ext cx="6282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79C6"/>
                </a:solidFill>
                <a:effectLst/>
                <a:uFillTx/>
                <a:latin typeface="Fira Code"/>
                <a:ea typeface="Fira Code"/>
              </a:rPr>
              <a:t>import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70;p18"/>
          <p:cNvSpPr/>
          <p:nvPr/>
        </p:nvSpPr>
        <p:spPr>
          <a:xfrm>
            <a:off x="1647720" y="2762280"/>
            <a:ext cx="3139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str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71;p18"/>
          <p:cNvSpPr/>
          <p:nvPr/>
        </p:nvSpPr>
        <p:spPr>
          <a:xfrm>
            <a:off x="2800440" y="2762280"/>
            <a:ext cx="732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randint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72;p18"/>
          <p:cNvSpPr/>
          <p:nvPr/>
        </p:nvSpPr>
        <p:spPr>
          <a:xfrm>
            <a:off x="3638520" y="2762280"/>
            <a:ext cx="104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8F2"/>
                </a:solidFill>
                <a:effectLst/>
                <a:uFillTx/>
                <a:latin typeface="Fira Code"/>
                <a:ea typeface="Fira Code"/>
              </a:rPr>
              <a:t>0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73;p18"/>
          <p:cNvSpPr/>
          <p:nvPr/>
        </p:nvSpPr>
        <p:spPr>
          <a:xfrm>
            <a:off x="3952800" y="2762280"/>
            <a:ext cx="104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8F2"/>
                </a:solidFill>
                <a:effectLst/>
                <a:uFillTx/>
                <a:latin typeface="Fira Code"/>
                <a:ea typeface="Fira Code"/>
              </a:rPr>
              <a:t>1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74;p18"/>
          <p:cNvSpPr/>
          <p:nvPr/>
        </p:nvSpPr>
        <p:spPr>
          <a:xfrm>
            <a:off x="6582600" y="5269680"/>
            <a:ext cx="4924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5A059"/>
                </a:solidFill>
                <a:effectLst/>
                <a:uFillTx/>
                <a:latin typeface="Lato"/>
                <a:ea typeface="Lato"/>
              </a:rPr>
              <a:t>"Thy kind are denied the Elden Ring... unless the code holds true."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75;p18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FIRST BEAST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76;p18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3;p 10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04;p 9"/>
          <p:cNvSpPr/>
          <p:nvPr/>
        </p:nvSpPr>
        <p:spPr>
          <a:xfrm>
            <a:off x="581040" y="2162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Step3_pseudocode.py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Step3.py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Use the commented pesudocode to guide you with developing your code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13;p 5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Beast Battle: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14;p 5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03;p 11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04;p 10"/>
          <p:cNvSpPr/>
          <p:nvPr/>
        </p:nvSpPr>
        <p:spPr>
          <a:xfrm>
            <a:off x="485640" y="4916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Step3.py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473220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81;p19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182;p19"/>
          <p:cNvPicPr/>
          <p:nvPr/>
        </p:nvPicPr>
        <p:blipFill>
          <a:blip r:embed="rId2"/>
          <a:stretch/>
        </p:blipFill>
        <p:spPr>
          <a:xfrm>
            <a:off x="6286680" y="2876400"/>
            <a:ext cx="532404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183;p19"/>
          <p:cNvSpPr/>
          <p:nvPr/>
        </p:nvSpPr>
        <p:spPr>
          <a:xfrm>
            <a:off x="581040" y="1609560"/>
            <a:ext cx="532404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8B0000"/>
                </a:solidFill>
                <a:effectLst/>
                <a:uFillTx/>
                <a:latin typeface="Cinzel"/>
                <a:ea typeface="Cinzel"/>
              </a:rPr>
              <a:t>Success Rate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84;p19"/>
          <p:cNvSpPr/>
          <p:nvPr/>
        </p:nvSpPr>
        <p:spPr>
          <a:xfrm>
            <a:off x="581040" y="2095560"/>
            <a:ext cx="5324040" cy="17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250" b="1" u="none" strike="noStrike">
                <a:solidFill>
                  <a:srgbClr val="8B0000"/>
                </a:solidFill>
                <a:effectLst/>
                <a:uFillTx/>
                <a:latin typeface="Cinzel"/>
                <a:ea typeface="Cinzel"/>
              </a:rPr>
              <a:t>10%</a:t>
            </a:r>
            <a:endParaRPr lang="en-US" sz="1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85;p19"/>
          <p:cNvSpPr/>
          <p:nvPr/>
        </p:nvSpPr>
        <p:spPr>
          <a:xfrm>
            <a:off x="581040" y="4019400"/>
            <a:ext cx="5324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AAAA"/>
                </a:solidFill>
                <a:effectLst/>
                <a:uFillTx/>
                <a:latin typeface="Lato"/>
                <a:ea typeface="Lato"/>
              </a:rPr>
              <a:t>Probability vs. Margit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86;p19"/>
          <p:cNvSpPr/>
          <p:nvPr/>
        </p:nvSpPr>
        <p:spPr>
          <a:xfrm>
            <a:off x="628668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STEP 4: SCALING DIFFICULTY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87;p19"/>
          <p:cNvSpPr/>
          <p:nvPr/>
        </p:nvSpPr>
        <p:spPr>
          <a:xfrm>
            <a:off x="6286680" y="2162160"/>
            <a:ext cx="53240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We increase the random range to </a:t>
            </a: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0-9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. The player's survival now requires a precise 1 in 10 guess.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88;p19"/>
          <p:cNvSpPr/>
          <p:nvPr/>
        </p:nvSpPr>
        <p:spPr>
          <a:xfrm>
            <a:off x="6286680" y="3629160"/>
            <a:ext cx="53240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Note: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We reuse variables like enemy and beast because we no longer need the previous battle's data. This is memory efficiency.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89;p19"/>
          <p:cNvSpPr/>
          <p:nvPr/>
        </p:nvSpPr>
        <p:spPr>
          <a:xfrm>
            <a:off x="7353360" y="3067200"/>
            <a:ext cx="3139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str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90;p19"/>
          <p:cNvSpPr/>
          <p:nvPr/>
        </p:nvSpPr>
        <p:spPr>
          <a:xfrm>
            <a:off x="8505720" y="3067200"/>
            <a:ext cx="7329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randint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91;p19"/>
          <p:cNvSpPr/>
          <p:nvPr/>
        </p:nvSpPr>
        <p:spPr>
          <a:xfrm>
            <a:off x="9344160" y="3067200"/>
            <a:ext cx="104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8F2"/>
                </a:solidFill>
                <a:effectLst/>
                <a:uFillTx/>
                <a:latin typeface="Fira Code"/>
                <a:ea typeface="Fira Code"/>
              </a:rPr>
              <a:t>0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92;p19"/>
          <p:cNvSpPr/>
          <p:nvPr/>
        </p:nvSpPr>
        <p:spPr>
          <a:xfrm>
            <a:off x="9658440" y="3067200"/>
            <a:ext cx="104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8F2"/>
                </a:solidFill>
                <a:effectLst/>
                <a:uFillTx/>
                <a:latin typeface="Fira Code"/>
                <a:ea typeface="Fira Code"/>
              </a:rPr>
              <a:t>9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93;p19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BOSS BATTLE: Margit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94;p19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03;p 12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04;p 11"/>
          <p:cNvSpPr/>
          <p:nvPr/>
        </p:nvSpPr>
        <p:spPr>
          <a:xfrm>
            <a:off x="581040" y="2162160"/>
            <a:ext cx="98791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Step3.py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Step4.py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Copy all code (except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import random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) and paste at the bottom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Edit the pasted code to reflect a boss battle against Margit with a 1 in 10 chance of winning.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13;p 6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Boss Battle: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14;p 6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03;p 13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04;p 12"/>
          <p:cNvSpPr/>
          <p:nvPr/>
        </p:nvSpPr>
        <p:spPr>
          <a:xfrm>
            <a:off x="485640" y="4916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Step4.py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422136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03;p 14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Bugs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04;p 13"/>
          <p:cNvSpPr/>
          <p:nvPr/>
        </p:nvSpPr>
        <p:spPr>
          <a:xfrm>
            <a:off x="581040" y="2162160"/>
            <a:ext cx="987912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Some bugs are obvious: They won’t let you run your code at all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Others, not so obvious. They run but things don’t work as you might expect.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Can you see the issue with ours?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13;p 7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Boss Battle: A Fatal Flaw in Our Code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14;p 7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03;p 15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Bugs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04;p 14"/>
          <p:cNvSpPr/>
          <p:nvPr/>
        </p:nvSpPr>
        <p:spPr>
          <a:xfrm>
            <a:off x="581040" y="2162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 we lose to the first beast, we shouldn’t be able to move onto fight Margit.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Currently, our code still lets us.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There is a simple, elegant solution to this: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exit()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Adding this line after our “You Died” print statement of the first battle ensures that the game exits if we lose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13;p 8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Boss Battle: A Fatal Flaw in Our Code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14;p 8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99;p20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200;p20"/>
          <p:cNvPicPr/>
          <p:nvPr/>
        </p:nvPicPr>
        <p:blipFill>
          <a:blip r:embed="rId2"/>
          <a:stretch/>
        </p:blipFill>
        <p:spPr>
          <a:xfrm>
            <a:off x="581040" y="1609560"/>
            <a:ext cx="5371920" cy="308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oogle Shape;201;p20"/>
          <p:cNvPicPr/>
          <p:nvPr/>
        </p:nvPicPr>
        <p:blipFill>
          <a:blip r:embed="rId3"/>
          <a:stretch/>
        </p:blipFill>
        <p:spPr>
          <a:xfrm>
            <a:off x="6238800" y="1609560"/>
            <a:ext cx="5371920" cy="308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204;p20"/>
          <p:cNvPicPr/>
          <p:nvPr/>
        </p:nvPicPr>
        <p:blipFill>
          <a:blip r:embed="rId4"/>
          <a:stretch/>
        </p:blipFill>
        <p:spPr>
          <a:xfrm>
            <a:off x="3100320" y="1905120"/>
            <a:ext cx="33300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Google Shape;205;p20"/>
          <p:cNvSpPr/>
          <p:nvPr/>
        </p:nvSpPr>
        <p:spPr>
          <a:xfrm>
            <a:off x="756720" y="2428920"/>
            <a:ext cx="502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THE OR OPERATOR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06;p20"/>
          <p:cNvSpPr/>
          <p:nvPr/>
        </p:nvSpPr>
        <p:spPr>
          <a:xfrm>
            <a:off x="876240" y="2981160"/>
            <a:ext cx="4781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Used to check for cheat codes like the Konami code.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Best for one to three choices.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Google Shape;207;p20"/>
          <p:cNvPicPr/>
          <p:nvPr/>
        </p:nvPicPr>
        <p:blipFill>
          <a:blip r:embed="rId5"/>
          <a:stretch/>
        </p:blipFill>
        <p:spPr>
          <a:xfrm>
            <a:off x="8734320" y="190512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Google Shape;208;p20"/>
          <p:cNvSpPr/>
          <p:nvPr/>
        </p:nvSpPr>
        <p:spPr>
          <a:xfrm>
            <a:off x="6414480" y="2428920"/>
            <a:ext cx="502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THE IN KEYWORD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09;p20"/>
          <p:cNvSpPr/>
          <p:nvPr/>
        </p:nvSpPr>
        <p:spPr>
          <a:xfrm>
            <a:off x="6534000" y="2981160"/>
            <a:ext cx="4781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Used for clean lists. Far superior to multiple OR statements when there are many choices.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18;p20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HIDDEN RUNES: Adding A Cheat Code WITH “OR”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19;p20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"/>
          <p:cNvPicPr/>
          <p:nvPr/>
        </p:nvPicPr>
        <p:blipFill>
          <a:blip r:embed="rId6"/>
          <a:stretch/>
        </p:blipFill>
        <p:spPr>
          <a:xfrm>
            <a:off x="1380960" y="3784680"/>
            <a:ext cx="3628800" cy="27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"/>
          <p:cNvPicPr/>
          <p:nvPr/>
        </p:nvPicPr>
        <p:blipFill>
          <a:blip r:embed="rId7"/>
          <a:stretch/>
        </p:blipFill>
        <p:spPr>
          <a:xfrm>
            <a:off x="7154280" y="3837960"/>
            <a:ext cx="35809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/>
          <p:cNvPicPr/>
          <p:nvPr/>
        </p:nvPicPr>
        <p:blipFill>
          <a:blip r:embed="rId8"/>
          <a:stretch/>
        </p:blipFill>
        <p:spPr>
          <a:xfrm>
            <a:off x="658800" y="5227200"/>
            <a:ext cx="10562760" cy="11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00;p 1"/>
          <p:cNvPicPr/>
          <p:nvPr/>
        </p:nvPicPr>
        <p:blipFill>
          <a:blip r:embed="rId9"/>
          <a:stretch/>
        </p:blipFill>
        <p:spPr>
          <a:xfrm>
            <a:off x="545760" y="4840200"/>
            <a:ext cx="11014200" cy="17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06;p 1"/>
          <p:cNvSpPr/>
          <p:nvPr/>
        </p:nvSpPr>
        <p:spPr>
          <a:xfrm>
            <a:off x="2337840" y="4805640"/>
            <a:ext cx="75160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These both complete the same task, but one is far more efficient: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03;p 17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04;p 15"/>
          <p:cNvSpPr/>
          <p:nvPr/>
        </p:nvSpPr>
        <p:spPr>
          <a:xfrm>
            <a:off x="581040" y="2162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Step4.py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Step5.py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Add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or enemy == “uuddlrlrba” 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at the end of the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statements for the battles before the colon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13;p 9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Cheat Codes: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14;p 9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03;p 19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04;p 16"/>
          <p:cNvSpPr/>
          <p:nvPr/>
        </p:nvSpPr>
        <p:spPr>
          <a:xfrm>
            <a:off x="485640" y="4916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Step5.py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Instead of a number, try typing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uuddlrlrba 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as your input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422136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224;p2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Google Shape;225;p21"/>
          <p:cNvPicPr/>
          <p:nvPr/>
        </p:nvPicPr>
        <p:blipFill>
          <a:blip r:embed="rId2"/>
          <a:stretch/>
        </p:blipFill>
        <p:spPr>
          <a:xfrm>
            <a:off x="581040" y="2486160"/>
            <a:ext cx="494316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226;p21"/>
          <p:cNvSpPr/>
          <p:nvPr/>
        </p:nvSpPr>
        <p:spPr>
          <a:xfrm>
            <a:off x="581040" y="581040"/>
            <a:ext cx="519012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TRAP LOOP: While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27;p21"/>
          <p:cNvSpPr/>
          <p:nvPr/>
        </p:nvSpPr>
        <p:spPr>
          <a:xfrm>
            <a:off x="581040" y="1219320"/>
            <a:ext cx="494316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Google Shape;228;p21"/>
          <p:cNvPicPr/>
          <p:nvPr/>
        </p:nvPicPr>
        <p:blipFill>
          <a:blip r:embed="rId3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Google Shape;229;p21"/>
          <p:cNvSpPr/>
          <p:nvPr/>
        </p:nvSpPr>
        <p:spPr>
          <a:xfrm>
            <a:off x="581040" y="1609560"/>
            <a:ext cx="4943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 6: Input Validation.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We use a while True loop to trap the player until they provide a valid number.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0;p21"/>
          <p:cNvSpPr/>
          <p:nvPr/>
        </p:nvSpPr>
        <p:spPr>
          <a:xfrm>
            <a:off x="581040" y="3962520"/>
            <a:ext cx="4943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 </a:t>
            </a: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break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statement is the key to escaping the cycle once rules are followed.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1;p21"/>
          <p:cNvSpPr/>
          <p:nvPr/>
        </p:nvSpPr>
        <p:spPr>
          <a:xfrm>
            <a:off x="809640" y="2676600"/>
            <a:ext cx="8568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79C6"/>
                </a:solidFill>
                <a:effectLst/>
                <a:uFillTx/>
                <a:latin typeface="Fira Code"/>
                <a:ea typeface="Fira Code"/>
              </a:rPr>
              <a:t>while True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32;p21"/>
          <p:cNvSpPr/>
          <p:nvPr/>
        </p:nvSpPr>
        <p:spPr>
          <a:xfrm>
            <a:off x="1666800" y="2867040"/>
            <a:ext cx="4284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input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33;p21"/>
          <p:cNvSpPr/>
          <p:nvPr/>
        </p:nvSpPr>
        <p:spPr>
          <a:xfrm>
            <a:off x="2181240" y="2867040"/>
            <a:ext cx="11998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1FA8C"/>
                </a:solidFill>
                <a:effectLst/>
                <a:uFillTx/>
                <a:latin typeface="Fira Code"/>
                <a:ea typeface="Fira Code"/>
              </a:rPr>
              <a:t>"Choose 0-9: "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34;p21"/>
          <p:cNvSpPr/>
          <p:nvPr/>
        </p:nvSpPr>
        <p:spPr>
          <a:xfrm>
            <a:off x="981000" y="3057480"/>
            <a:ext cx="1710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79C6"/>
                </a:solidFill>
                <a:effectLst/>
                <a:uFillTx/>
                <a:latin typeface="Fira Code"/>
                <a:ea typeface="Fira Code"/>
              </a:rPr>
              <a:t>if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35;p21"/>
          <p:cNvSpPr/>
          <p:nvPr/>
        </p:nvSpPr>
        <p:spPr>
          <a:xfrm>
            <a:off x="1752480" y="3057480"/>
            <a:ext cx="1710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79C6"/>
                </a:solidFill>
                <a:effectLst/>
                <a:uFillTx/>
                <a:latin typeface="Fira Code"/>
                <a:ea typeface="Fira Code"/>
              </a:rPr>
              <a:t>in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36;p21"/>
          <p:cNvSpPr/>
          <p:nvPr/>
        </p:nvSpPr>
        <p:spPr>
          <a:xfrm>
            <a:off x="1152360" y="3247920"/>
            <a:ext cx="4284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79C6"/>
                </a:solidFill>
                <a:effectLst/>
                <a:uFillTx/>
                <a:latin typeface="Fira Code"/>
                <a:ea typeface="Fira Code"/>
              </a:rPr>
              <a:t>break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37;p21"/>
          <p:cNvSpPr/>
          <p:nvPr/>
        </p:nvSpPr>
        <p:spPr>
          <a:xfrm>
            <a:off x="981000" y="3438360"/>
            <a:ext cx="4284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0FA7B"/>
                </a:solidFill>
                <a:effectLst/>
                <a:uFillTx/>
                <a:latin typeface="Fira Code"/>
                <a:ea typeface="Fira Code"/>
              </a:rPr>
              <a:t>print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38;p21"/>
          <p:cNvSpPr/>
          <p:nvPr/>
        </p:nvSpPr>
        <p:spPr>
          <a:xfrm>
            <a:off x="1495440" y="3438360"/>
            <a:ext cx="1456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1FA8C"/>
                </a:solidFill>
                <a:effectLst/>
                <a:uFillTx/>
                <a:latin typeface="Fira Code"/>
                <a:ea typeface="Fira Code"/>
              </a:rPr>
              <a:t>"Invalid choice!"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03;p 16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04;p 17"/>
          <p:cNvSpPr/>
          <p:nvPr/>
        </p:nvSpPr>
        <p:spPr>
          <a:xfrm>
            <a:off x="581040" y="2162160"/>
            <a:ext cx="98791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Step5.py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Step6.py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Change your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enemy = 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variable declarations into code that verifies if your input is valid.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Tip: For the first enemy, use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or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statements, but use the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in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keyword and list for Margit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113;p 10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While Loops: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114;p 10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103;p 18"/>
          <p:cNvSpPr/>
          <p:nvPr/>
        </p:nvSpPr>
        <p:spPr>
          <a:xfrm>
            <a:off x="555120" y="44845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104;p 18"/>
          <p:cNvSpPr/>
          <p:nvPr/>
        </p:nvSpPr>
        <p:spPr>
          <a:xfrm>
            <a:off x="485640" y="4916160"/>
            <a:ext cx="98791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icons that look similar to this: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the Terminal Tab in the window that opens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Step6.py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Instead of a number, try typing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uuddlrlrba 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as your input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"/>
          <p:cNvPicPr/>
          <p:nvPr/>
        </p:nvPicPr>
        <p:blipFill>
          <a:blip r:embed="rId1"/>
          <a:stretch/>
        </p:blipFill>
        <p:spPr>
          <a:xfrm>
            <a:off x="4221360" y="5353200"/>
            <a:ext cx="771120" cy="34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99;p 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Google Shape;200;p 4"/>
          <p:cNvPicPr/>
          <p:nvPr/>
        </p:nvPicPr>
        <p:blipFill>
          <a:blip r:embed="rId2"/>
          <a:stretch/>
        </p:blipFill>
        <p:spPr>
          <a:xfrm>
            <a:off x="581040" y="1609560"/>
            <a:ext cx="11074320" cy="48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204;p 2"/>
          <p:cNvPicPr/>
          <p:nvPr/>
        </p:nvPicPr>
        <p:blipFill>
          <a:blip r:embed="rId3"/>
          <a:stretch/>
        </p:blipFill>
        <p:spPr>
          <a:xfrm>
            <a:off x="5929560" y="1905120"/>
            <a:ext cx="33300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Google Shape;205;p 2"/>
          <p:cNvSpPr/>
          <p:nvPr/>
        </p:nvSpPr>
        <p:spPr>
          <a:xfrm>
            <a:off x="3585960" y="2428920"/>
            <a:ext cx="502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Nesting If Statements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18;p 2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HIDDEN RUNES: Nested If Statements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19;p 2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06;p 5"/>
          <p:cNvSpPr/>
          <p:nvPr/>
        </p:nvSpPr>
        <p:spPr>
          <a:xfrm>
            <a:off x="2337840" y="2865960"/>
            <a:ext cx="75160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 two unrelated things can make a statement true, then we can nest the if statements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"/>
          <p:cNvPicPr/>
          <p:nvPr/>
        </p:nvPicPr>
        <p:blipFill>
          <a:blip r:embed="rId4"/>
          <a:stretch/>
        </p:blipFill>
        <p:spPr>
          <a:xfrm>
            <a:off x="3168000" y="3467880"/>
            <a:ext cx="6229080" cy="150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03;p 22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104;p 21"/>
          <p:cNvSpPr/>
          <p:nvPr/>
        </p:nvSpPr>
        <p:spPr>
          <a:xfrm>
            <a:off x="581040" y="2162160"/>
            <a:ext cx="9879120" cy="34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Step6.py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Step7.py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After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import random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, add a line with the variable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player_name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using input asking the player’s name, the variable to lower case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Under the first beast battle, under the else statement, nest an if/else statement where it checks if the value of player_name is “justin”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 the name is justin, let them win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 the name isn’t justin, then use the existing else “you died” sequence”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Copy and paste this code into the boss battle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113;p 12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Nested If Statements: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114;p 12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103;p 24"/>
          <p:cNvSpPr/>
          <p:nvPr/>
        </p:nvSpPr>
        <p:spPr>
          <a:xfrm>
            <a:off x="6045120" y="531612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104;p 23"/>
          <p:cNvSpPr/>
          <p:nvPr/>
        </p:nvSpPr>
        <p:spPr>
          <a:xfrm>
            <a:off x="6045120" y="5682240"/>
            <a:ext cx="98791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Step7.py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9;p 2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200;p 2"/>
          <p:cNvPicPr/>
          <p:nvPr/>
        </p:nvPicPr>
        <p:blipFill>
          <a:blip r:embed="rId2"/>
          <a:stretch/>
        </p:blipFill>
        <p:spPr>
          <a:xfrm>
            <a:off x="581040" y="1609560"/>
            <a:ext cx="11074320" cy="484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204;p 3"/>
          <p:cNvPicPr/>
          <p:nvPr/>
        </p:nvPicPr>
        <p:blipFill>
          <a:blip r:embed="rId3"/>
          <a:stretch/>
        </p:blipFill>
        <p:spPr>
          <a:xfrm>
            <a:off x="5929560" y="1905120"/>
            <a:ext cx="33300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205;p 3"/>
          <p:cNvSpPr/>
          <p:nvPr/>
        </p:nvSpPr>
        <p:spPr>
          <a:xfrm>
            <a:off x="3585960" y="2428920"/>
            <a:ext cx="502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Elif Statements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18;p 3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HIDDEN RUNES: elif Statements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19;p 3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06;p 2"/>
          <p:cNvSpPr/>
          <p:nvPr/>
        </p:nvSpPr>
        <p:spPr>
          <a:xfrm>
            <a:off x="2337840" y="2865960"/>
            <a:ext cx="75160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The other option for an if statement is called elif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"/>
          <p:cNvPicPr/>
          <p:nvPr/>
        </p:nvPicPr>
        <p:blipFill>
          <a:blip r:embed="rId4"/>
          <a:stretch/>
        </p:blipFill>
        <p:spPr>
          <a:xfrm>
            <a:off x="4235760" y="3540240"/>
            <a:ext cx="3876480" cy="183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3;p 23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104;p 22"/>
          <p:cNvSpPr/>
          <p:nvPr/>
        </p:nvSpPr>
        <p:spPr>
          <a:xfrm>
            <a:off x="581040" y="2162160"/>
            <a:ext cx="9879120" cy="20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Step7.py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Step8.py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After the if statement, but before the else, add an elif code block that checks if the variable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player_name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matches your name in lower case.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If the name matches, let yourself win!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113;p 13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Elif Statements: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14;p 13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103;p 25"/>
          <p:cNvSpPr/>
          <p:nvPr/>
        </p:nvSpPr>
        <p:spPr>
          <a:xfrm>
            <a:off x="546480" y="446760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104;p 24"/>
          <p:cNvSpPr/>
          <p:nvPr/>
        </p:nvSpPr>
        <p:spPr>
          <a:xfrm>
            <a:off x="546480" y="4833720"/>
            <a:ext cx="98791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Step8.py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24;p 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Google Shape;226;p 2"/>
          <p:cNvSpPr/>
          <p:nvPr/>
        </p:nvSpPr>
        <p:spPr>
          <a:xfrm>
            <a:off x="581040" y="581040"/>
            <a:ext cx="519012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Dictionary Entries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27;p 2"/>
          <p:cNvSpPr/>
          <p:nvPr/>
        </p:nvSpPr>
        <p:spPr>
          <a:xfrm>
            <a:off x="581040" y="1219320"/>
            <a:ext cx="494316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Google Shape;228;p 2"/>
          <p:cNvPicPr/>
          <p:nvPr/>
        </p:nvPicPr>
        <p:blipFill>
          <a:blip r:embed="rId2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Google Shape;229;p 2"/>
          <p:cNvSpPr/>
          <p:nvPr/>
        </p:nvSpPr>
        <p:spPr>
          <a:xfrm>
            <a:off x="581040" y="1609560"/>
            <a:ext cx="4943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 9: Dictionary entries allow for multiple values in a variable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30;p 2"/>
          <p:cNvSpPr/>
          <p:nvPr/>
        </p:nvSpPr>
        <p:spPr>
          <a:xfrm>
            <a:off x="581040" y="3962520"/>
            <a:ext cx="49431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We will use this to create the Samurai Class in our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"/>
          <p:cNvPicPr/>
          <p:nvPr/>
        </p:nvPicPr>
        <p:blipFill>
          <a:blip r:embed="rId3"/>
          <a:stretch/>
        </p:blipFill>
        <p:spPr>
          <a:xfrm>
            <a:off x="1200600" y="2397960"/>
            <a:ext cx="2076120" cy="113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03;p 20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104;p 19"/>
          <p:cNvSpPr/>
          <p:nvPr/>
        </p:nvSpPr>
        <p:spPr>
          <a:xfrm>
            <a:off x="581040" y="2162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Step8.py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Step9.py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Step9_pseudocode.py and use the instructions in there to help you create an entry for the Samurai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13;p 11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Dictionary Entries: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114;p 11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103;p 21"/>
          <p:cNvSpPr/>
          <p:nvPr/>
        </p:nvSpPr>
        <p:spPr>
          <a:xfrm>
            <a:off x="546480" y="446760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104;p 20"/>
          <p:cNvSpPr/>
          <p:nvPr/>
        </p:nvSpPr>
        <p:spPr>
          <a:xfrm>
            <a:off x="546480" y="4833720"/>
            <a:ext cx="98791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Step9.py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4;p 2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Google Shape;226;p 3"/>
          <p:cNvSpPr/>
          <p:nvPr/>
        </p:nvSpPr>
        <p:spPr>
          <a:xfrm>
            <a:off x="581040" y="581040"/>
            <a:ext cx="51901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Dictionary Entries with Multiple Entries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27;p 3"/>
          <p:cNvSpPr/>
          <p:nvPr/>
        </p:nvSpPr>
        <p:spPr>
          <a:xfrm>
            <a:off x="581040" y="1579320"/>
            <a:ext cx="494316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Google Shape;228;p 3"/>
          <p:cNvPicPr/>
          <p:nvPr/>
        </p:nvPicPr>
        <p:blipFill>
          <a:blip r:embed="rId2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Google Shape;229;p 3"/>
          <p:cNvSpPr/>
          <p:nvPr/>
        </p:nvSpPr>
        <p:spPr>
          <a:xfrm>
            <a:off x="581040" y="1609560"/>
            <a:ext cx="4943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 10: Dictionary entries allow for multiple values in a variable: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30;p 3"/>
          <p:cNvSpPr/>
          <p:nvPr/>
        </p:nvSpPr>
        <p:spPr>
          <a:xfrm>
            <a:off x="581040" y="3962520"/>
            <a:ext cx="49431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Using this, we can select from multiple classes in our code.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"/>
          <p:cNvPicPr/>
          <p:nvPr/>
        </p:nvPicPr>
        <p:blipFill>
          <a:blip r:embed="rId3"/>
          <a:stretch/>
        </p:blipFill>
        <p:spPr>
          <a:xfrm>
            <a:off x="171720" y="2449440"/>
            <a:ext cx="5777280" cy="116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43;p22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Google Shape;245;p22"/>
          <p:cNvSpPr/>
          <p:nvPr/>
        </p:nvSpPr>
        <p:spPr>
          <a:xfrm>
            <a:off x="581040" y="1609560"/>
            <a:ext cx="110296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 10: Dictionaries.</a:t>
            </a: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 We store character classes in an associative array (key-value pairs).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2" name="Google Shape;246;p22"/>
          <p:cNvGraphicFramePr/>
          <p:nvPr/>
        </p:nvGraphicFramePr>
        <p:xfrm>
          <a:off x="581040" y="2038320"/>
          <a:ext cx="11029320" cy="2313720"/>
        </p:xfrm>
        <a:graphic>
          <a:graphicData uri="http://schemas.openxmlformats.org/drawingml/2006/table">
            <a:tbl>
              <a:tblPr/>
              <a:tblGrid>
                <a:gridCol w="2281680"/>
                <a:gridCol w="3595680"/>
                <a:gridCol w="2005200"/>
                <a:gridCol w="3147120"/>
              </a:tblGrid>
              <a:tr h="57852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C5A05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Key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3D3422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C5A05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Type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3D3422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C5A05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HP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3D3422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C5A05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Attack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3D3422"/>
                    </a:solidFill>
                  </a:tcPr>
                </a:tc>
              </a:tr>
              <a:tr h="57852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"1"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Samurai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20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7852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"2"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Prisoner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20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7852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"3"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Prophet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54;p22"/>
          <p:cNvSpPr/>
          <p:nvPr/>
        </p:nvSpPr>
        <p:spPr>
          <a:xfrm>
            <a:off x="581040" y="3176640"/>
            <a:ext cx="2281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55;p22"/>
          <p:cNvSpPr/>
          <p:nvPr/>
        </p:nvSpPr>
        <p:spPr>
          <a:xfrm>
            <a:off x="2863080" y="3176640"/>
            <a:ext cx="359532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56;p22"/>
          <p:cNvSpPr/>
          <p:nvPr/>
        </p:nvSpPr>
        <p:spPr>
          <a:xfrm>
            <a:off x="6458760" y="3176640"/>
            <a:ext cx="200484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57;p22"/>
          <p:cNvSpPr/>
          <p:nvPr/>
        </p:nvSpPr>
        <p:spPr>
          <a:xfrm>
            <a:off x="8464320" y="3176640"/>
            <a:ext cx="314640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58;p22"/>
          <p:cNvSpPr/>
          <p:nvPr/>
        </p:nvSpPr>
        <p:spPr>
          <a:xfrm>
            <a:off x="581040" y="3757680"/>
            <a:ext cx="2281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59;p22"/>
          <p:cNvSpPr/>
          <p:nvPr/>
        </p:nvSpPr>
        <p:spPr>
          <a:xfrm>
            <a:off x="2863080" y="3757680"/>
            <a:ext cx="359532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60;p22"/>
          <p:cNvSpPr/>
          <p:nvPr/>
        </p:nvSpPr>
        <p:spPr>
          <a:xfrm>
            <a:off x="6458760" y="3757680"/>
            <a:ext cx="200484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61;p22"/>
          <p:cNvSpPr/>
          <p:nvPr/>
        </p:nvSpPr>
        <p:spPr>
          <a:xfrm>
            <a:off x="8464320" y="3757680"/>
            <a:ext cx="314640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62;p22"/>
          <p:cNvSpPr/>
          <p:nvPr/>
        </p:nvSpPr>
        <p:spPr>
          <a:xfrm>
            <a:off x="581040" y="4338720"/>
            <a:ext cx="2281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63;p22"/>
          <p:cNvSpPr/>
          <p:nvPr/>
        </p:nvSpPr>
        <p:spPr>
          <a:xfrm>
            <a:off x="2863080" y="4338720"/>
            <a:ext cx="359532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64;p22"/>
          <p:cNvSpPr/>
          <p:nvPr/>
        </p:nvSpPr>
        <p:spPr>
          <a:xfrm>
            <a:off x="6458760" y="4338720"/>
            <a:ext cx="200484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65;p22"/>
          <p:cNvSpPr/>
          <p:nvPr/>
        </p:nvSpPr>
        <p:spPr>
          <a:xfrm>
            <a:off x="8464320" y="4338720"/>
            <a:ext cx="314640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66;p22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ARCHIVES OF STATS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67;p22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103;p 26"/>
          <p:cNvSpPr/>
          <p:nvPr/>
        </p:nvSpPr>
        <p:spPr>
          <a:xfrm>
            <a:off x="581040" y="160956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104;p 25"/>
          <p:cNvSpPr/>
          <p:nvPr/>
        </p:nvSpPr>
        <p:spPr>
          <a:xfrm>
            <a:off x="581040" y="2162160"/>
            <a:ext cx="9879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file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Step9.py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Click File &gt; Save 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Save the file as </a:t>
            </a:r>
            <a:r>
              <a:rPr lang="en-US" sz="1500" b="0" i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Step10.py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Step10_pseudocode.py and use the instructions in there to help you create an entry for the Samurai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113;p 14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Dictionary Entries: Your Turn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114;p 14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103;p 27"/>
          <p:cNvSpPr/>
          <p:nvPr/>
        </p:nvSpPr>
        <p:spPr>
          <a:xfrm>
            <a:off x="546480" y="4467600"/>
            <a:ext cx="559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F5F5"/>
                </a:solidFill>
                <a:effectLst/>
                <a:uFillTx/>
                <a:latin typeface="Cinzel"/>
                <a:ea typeface="Cinzel"/>
              </a:rPr>
              <a:t>Running your Code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104;p 26"/>
          <p:cNvSpPr/>
          <p:nvPr/>
        </p:nvSpPr>
        <p:spPr>
          <a:xfrm>
            <a:off x="546480" y="4833720"/>
            <a:ext cx="98791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Open the terminal if it is not yet: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Run the program: python Step10.py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72;p23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Google Shape;273;p23"/>
          <p:cNvPicPr/>
          <p:nvPr/>
        </p:nvPicPr>
        <p:blipFill>
          <a:blip r:embed="rId2"/>
          <a:stretch/>
        </p:blipFill>
        <p:spPr>
          <a:xfrm>
            <a:off x="2647800" y="1805040"/>
            <a:ext cx="6895800" cy="324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Google Shape;274;p23"/>
          <p:cNvSpPr/>
          <p:nvPr/>
        </p:nvSpPr>
        <p:spPr>
          <a:xfrm>
            <a:off x="3095640" y="2395440"/>
            <a:ext cx="60004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ELDEN LORD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75;p23"/>
          <p:cNvSpPr/>
          <p:nvPr/>
        </p:nvSpPr>
        <p:spPr>
          <a:xfrm>
            <a:off x="3238560" y="3214800"/>
            <a:ext cx="571464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The Journey Complete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276;p23"/>
          <p:cNvSpPr/>
          <p:nvPr/>
        </p:nvSpPr>
        <p:spPr>
          <a:xfrm>
            <a:off x="3238560" y="3747960"/>
            <a:ext cx="5714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DDDDD"/>
                </a:solidFill>
                <a:effectLst/>
                <a:uFillTx/>
                <a:latin typeface="Lato"/>
                <a:ea typeface="Lato"/>
              </a:rPr>
              <a:t>You have mastered input, variables, logic, loops, and data structures. The Lands Between are yours to command.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24;p 3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Google Shape;226;p 4"/>
          <p:cNvSpPr/>
          <p:nvPr/>
        </p:nvSpPr>
        <p:spPr>
          <a:xfrm>
            <a:off x="581040" y="581040"/>
            <a:ext cx="51901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Where do we Go From here?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27;p 4"/>
          <p:cNvSpPr/>
          <p:nvPr/>
        </p:nvSpPr>
        <p:spPr>
          <a:xfrm>
            <a:off x="581040" y="1579320"/>
            <a:ext cx="494316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Google Shape;228;p 4"/>
          <p:cNvPicPr/>
          <p:nvPr/>
        </p:nvPicPr>
        <p:blipFill>
          <a:blip r:embed="rId2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Google Shape;229;p 4"/>
          <p:cNvSpPr/>
          <p:nvPr/>
        </p:nvSpPr>
        <p:spPr>
          <a:xfrm>
            <a:off x="581040" y="1609560"/>
            <a:ext cx="4943160" cy="44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We don’t have time to get into more detail in this course and actually use these dictionary entries.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But you can build it on your own if you want!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As a bonus, I have a completed a version of the code that you can play and use. It has all the features we learned plus one we didn’t cover: functions.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You can get it here: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  <a:hlinkClick r:id="rId3"/>
              </a:rPr>
              <a:t>https://github.com/jemiller-iwcc/python-elden-ring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All code solutions, pseudocode, and these slides are on the site.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571080" y="813960"/>
            <a:ext cx="5065560" cy="506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81;p24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oogle Shape;282;p24"/>
          <p:cNvPicPr/>
          <p:nvPr/>
        </p:nvPicPr>
        <p:blipFill>
          <a:blip r:embed="rId2"/>
          <a:stretch/>
        </p:blipFill>
        <p:spPr>
          <a:xfrm>
            <a:off x="5810400" y="2328840"/>
            <a:ext cx="57132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Google Shape;283;p24"/>
          <p:cNvSpPr/>
          <p:nvPr/>
        </p:nvSpPr>
        <p:spPr>
          <a:xfrm>
            <a:off x="3845880" y="3281400"/>
            <a:ext cx="4500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84;p24"/>
          <p:cNvSpPr/>
          <p:nvPr/>
        </p:nvSpPr>
        <p:spPr>
          <a:xfrm>
            <a:off x="3952800" y="3586320"/>
            <a:ext cx="42858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Thy quest continues in the terminal.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85;p24"/>
          <p:cNvSpPr/>
          <p:nvPr/>
        </p:nvSpPr>
        <p:spPr>
          <a:xfrm>
            <a:off x="3952800" y="4348080"/>
            <a:ext cx="4285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D3422"/>
                </a:solidFill>
                <a:effectLst/>
                <a:uFillTx/>
                <a:latin typeface="Lato"/>
                <a:ea typeface="Lato"/>
              </a:rPr>
              <a:t>Justin E. Miller, </a:t>
            </a:r>
            <a:r>
              <a:rPr lang="en-US" sz="1200" b="0" u="none" strike="noStrike">
                <a:solidFill>
                  <a:srgbClr val="3D3422"/>
                </a:solidFill>
                <a:effectLst/>
                <a:uFillTx/>
                <a:latin typeface="Lato"/>
                <a:ea typeface="Lato"/>
                <a:hlinkClick r:id="rId3"/>
              </a:rPr>
              <a:t>jemiller@iwcc.edu</a:t>
            </a:r>
            <a:r>
              <a:rPr lang="en-US" sz="1200" b="0" u="none" strike="noStrike">
                <a:solidFill>
                  <a:srgbClr val="3D3422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90;p25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91;p25"/>
          <p:cNvSpPr/>
          <p:nvPr/>
        </p:nvSpPr>
        <p:spPr>
          <a:xfrm>
            <a:off x="581040" y="1609560"/>
            <a:ext cx="110296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92;p25"/>
          <p:cNvSpPr/>
          <p:nvPr/>
        </p:nvSpPr>
        <p:spPr>
          <a:xfrm>
            <a:off x="581040" y="2381400"/>
            <a:ext cx="110296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293;p25"/>
          <p:cNvSpPr/>
          <p:nvPr/>
        </p:nvSpPr>
        <p:spPr>
          <a:xfrm>
            <a:off x="581040" y="3152880"/>
            <a:ext cx="110296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294;p25"/>
          <p:cNvSpPr/>
          <p:nvPr/>
        </p:nvSpPr>
        <p:spPr>
          <a:xfrm>
            <a:off x="581040" y="3924360"/>
            <a:ext cx="110296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295;p25"/>
          <p:cNvSpPr/>
          <p:nvPr/>
        </p:nvSpPr>
        <p:spPr>
          <a:xfrm>
            <a:off x="581040" y="237168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296;p25"/>
          <p:cNvSpPr/>
          <p:nvPr/>
        </p:nvSpPr>
        <p:spPr>
          <a:xfrm>
            <a:off x="581040" y="237168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297;p25"/>
          <p:cNvSpPr/>
          <p:nvPr/>
        </p:nvSpPr>
        <p:spPr>
          <a:xfrm>
            <a:off x="581040" y="31431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298;p25"/>
          <p:cNvSpPr/>
          <p:nvPr/>
        </p:nvSpPr>
        <p:spPr>
          <a:xfrm>
            <a:off x="581040" y="31431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299;p25"/>
          <p:cNvSpPr/>
          <p:nvPr/>
        </p:nvSpPr>
        <p:spPr>
          <a:xfrm>
            <a:off x="581040" y="391464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00;p25"/>
          <p:cNvSpPr/>
          <p:nvPr/>
        </p:nvSpPr>
        <p:spPr>
          <a:xfrm>
            <a:off x="581040" y="391464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01;p25"/>
          <p:cNvSpPr/>
          <p:nvPr/>
        </p:nvSpPr>
        <p:spPr>
          <a:xfrm>
            <a:off x="581040" y="468648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02;p25"/>
          <p:cNvSpPr/>
          <p:nvPr/>
        </p:nvSpPr>
        <p:spPr>
          <a:xfrm>
            <a:off x="581040" y="468648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Google Shape;303;p25"/>
          <p:cNvPicPr/>
          <p:nvPr/>
        </p:nvPicPr>
        <p:blipFill>
          <a:blip r:embed="rId2"/>
          <a:stretch/>
        </p:blipFill>
        <p:spPr>
          <a:xfrm>
            <a:off x="581040" y="175248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Google Shape;304;p25"/>
          <p:cNvSpPr/>
          <p:nvPr/>
        </p:nvSpPr>
        <p:spPr>
          <a:xfrm>
            <a:off x="1676520" y="1759680"/>
            <a:ext cx="99342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https://eldenring.wiki.fextralife.com/file/Elden-Ring/samurai_class_elden_ring_wiki_guide_270px.png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05;p25"/>
          <p:cNvSpPr/>
          <p:nvPr/>
        </p:nvSpPr>
        <p:spPr>
          <a:xfrm>
            <a:off x="1676520" y="1992960"/>
            <a:ext cx="9934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Lato"/>
                <a:ea typeface="Lato"/>
              </a:rPr>
              <a:t>eldenring.wiki.fextralife.com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5" name="Google Shape;306;p25"/>
          <p:cNvPicPr/>
          <p:nvPr/>
        </p:nvPicPr>
        <p:blipFill>
          <a:blip r:embed="rId3"/>
          <a:stretch/>
        </p:blipFill>
        <p:spPr>
          <a:xfrm>
            <a:off x="581040" y="252396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Google Shape;307;p25"/>
          <p:cNvSpPr/>
          <p:nvPr/>
        </p:nvSpPr>
        <p:spPr>
          <a:xfrm>
            <a:off x="1676520" y="2531160"/>
            <a:ext cx="99342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https://i.redd.it/rktzg4cigl991.jpg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08;p25"/>
          <p:cNvSpPr/>
          <p:nvPr/>
        </p:nvSpPr>
        <p:spPr>
          <a:xfrm>
            <a:off x="1676520" y="2764800"/>
            <a:ext cx="9934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Lato"/>
                <a:ea typeface="Lato"/>
              </a:rPr>
              <a:t>www.reddit.com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8" name="Google Shape;309;p25"/>
          <p:cNvPicPr/>
          <p:nvPr/>
        </p:nvPicPr>
        <p:blipFill>
          <a:blip r:embed="rId4"/>
          <a:stretch/>
        </p:blipFill>
        <p:spPr>
          <a:xfrm>
            <a:off x="581040" y="329580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Google Shape;310;p25"/>
          <p:cNvSpPr/>
          <p:nvPr/>
        </p:nvSpPr>
        <p:spPr>
          <a:xfrm>
            <a:off x="1676520" y="3302640"/>
            <a:ext cx="99342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https://png.pngtree.com/thumb_back/fh260/background/20200724/pngtree-background-brown-dark-parchment-texture-image_364033.jpg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11;p25"/>
          <p:cNvSpPr/>
          <p:nvPr/>
        </p:nvSpPr>
        <p:spPr>
          <a:xfrm>
            <a:off x="1676520" y="3536280"/>
            <a:ext cx="9934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Lato"/>
                <a:ea typeface="Lato"/>
              </a:rPr>
              <a:t>pngtree.com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1" name="Google Shape;312;p25"/>
          <p:cNvPicPr/>
          <p:nvPr/>
        </p:nvPicPr>
        <p:blipFill>
          <a:blip r:embed="rId5"/>
          <a:stretch/>
        </p:blipFill>
        <p:spPr>
          <a:xfrm>
            <a:off x="581040" y="406728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Google Shape;313;p25"/>
          <p:cNvSpPr/>
          <p:nvPr/>
        </p:nvSpPr>
        <p:spPr>
          <a:xfrm>
            <a:off x="1676520" y="4074480"/>
            <a:ext cx="99342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https://images4.alphacoders.com/121/thumb-1920-1214929.jpg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14;p25"/>
          <p:cNvSpPr/>
          <p:nvPr/>
        </p:nvSpPr>
        <p:spPr>
          <a:xfrm>
            <a:off x="1676520" y="4307760"/>
            <a:ext cx="9934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Lato"/>
                <a:ea typeface="Lato"/>
              </a:rPr>
              <a:t>wall.alphacoders.com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Google Shape;315;p25"/>
          <p:cNvPicPr/>
          <p:nvPr/>
        </p:nvPicPr>
        <p:blipFill>
          <a:blip r:embed="rId6"/>
          <a:stretch/>
        </p:blipFill>
        <p:spPr>
          <a:xfrm>
            <a:off x="581040" y="483876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Google Shape;316;p25"/>
          <p:cNvSpPr/>
          <p:nvPr/>
        </p:nvSpPr>
        <p:spPr>
          <a:xfrm>
            <a:off x="1676520" y="4845960"/>
            <a:ext cx="99342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https://cdn.mos.cms.futurecdn.net/GUwnMR2gDjdhWbTdzr9f5C-1200-80.jpg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17;p25"/>
          <p:cNvSpPr/>
          <p:nvPr/>
        </p:nvSpPr>
        <p:spPr>
          <a:xfrm>
            <a:off x="1676520" y="5079240"/>
            <a:ext cx="9934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1D1"/>
                </a:solidFill>
                <a:effectLst/>
                <a:uFillTx/>
                <a:latin typeface="Lato"/>
                <a:ea typeface="Lato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Lato"/>
                <a:ea typeface="Lato"/>
              </a:rPr>
              <a:t>www.windowscentral.com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18;p25"/>
          <p:cNvSpPr/>
          <p:nvPr/>
        </p:nvSpPr>
        <p:spPr>
          <a:xfrm>
            <a:off x="581040" y="581040"/>
            <a:ext cx="115812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5A059"/>
                </a:solidFill>
                <a:effectLst/>
                <a:uFillTx/>
                <a:latin typeface="Cinzel"/>
                <a:ea typeface="Cinzel"/>
              </a:rPr>
              <a:t>SOURCES</a:t>
            </a:r>
            <a:endParaRPr lang="en-U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19;p25"/>
          <p:cNvSpPr/>
          <p:nvPr/>
        </p:nvSpPr>
        <p:spPr>
          <a:xfrm>
            <a:off x="581040" y="1219320"/>
            <a:ext cx="11029680" cy="9000"/>
          </a:xfrm>
          <a:prstGeom prst="rect">
            <a:avLst/>
          </a:prstGeom>
          <a:solidFill>
            <a:srgbClr val="3D3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-36360" bIns="-3636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69440" y="5487120"/>
            <a:ext cx="51357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Inspired by Network Chuck: https://www.youtube.com/watch?v=Fq6gqi9Ubog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Application>LibreOffice/26.2.4.2$Linux_X86_64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2026-06-15T21:40:24Z</dcterms:modified>
  <cp:revision>12</cp:revision>
  <dc:subject/>
  <dc:title/>
</cp:coreProperties>
</file>