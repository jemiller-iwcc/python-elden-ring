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29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31.xml" ContentType="application/vnd.openxmlformats-officedocument.presentationml.slide+xml"/>
  <Override PartName="/ppt/slides/slide24.xml" ContentType="application/vnd.openxmlformats-officedocument.presentationml.slide+xml"/>
  <Override PartName="/ppt/slides/slide32.xml" ContentType="application/vnd.openxmlformats-officedocument.presentationml.slide+xml"/>
  <Override PartName="/ppt/slides/slide34.xml" ContentType="application/vnd.openxmlformats-officedocument.presentationml.slide+xml"/>
  <Override PartName="/ppt/slides/slide3.xml" ContentType="application/vnd.openxmlformats-officedocument.presentationml.slide+xml"/>
  <Override PartName="/ppt/slides/slide33.xml" ContentType="application/vnd.openxmlformats-officedocument.presentationml.slide+xml"/>
  <Override PartName="/ppt/slides/slide1.xml" ContentType="application/vnd.openxmlformats-officedocument.presentationml.slide+xml"/>
  <Override PartName="/ppt/slides/slide30.xml" ContentType="application/vnd.openxmlformats-officedocument.presentationml.slide+xml"/>
  <Override PartName="/ppt/slides/slide36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3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media/image37.svg" ContentType="image/sv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FE6BAE2-89AD-44A9-9197-C920B3AB348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C052214-1B40-4706-8035-5D7B7D7E542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A213871-5AA6-4F76-990F-81FB6E23F6B5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hyperlink" Target="mailto:jemiller@iwcc.edu" TargetMode="External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1.png"/><Relationship Id="rId10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hyperlink" Target="https://github.com/jemiller-iwcc/python-challenge" TargetMode="External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1.png"/><Relationship Id="rId3" Type="http://schemas.openxmlformats.org/officeDocument/2006/relationships/image" Target="../media/image23.png"/><Relationship Id="rId4" Type="http://schemas.openxmlformats.org/officeDocument/2006/relationships/image" Target="../media/image30.png"/><Relationship Id="rId5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1.png"/><Relationship Id="rId3" Type="http://schemas.openxmlformats.org/officeDocument/2006/relationships/image" Target="../media/image23.png"/><Relationship Id="rId4" Type="http://schemas.openxmlformats.org/officeDocument/2006/relationships/image" Target="../media/image31.png"/><Relationship Id="rId5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9.png"/><Relationship Id="rId3" Type="http://schemas.openxmlformats.org/officeDocument/2006/relationships/image" Target="../media/image32.png"/><Relationship Id="rId4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9.png"/><Relationship Id="rId3" Type="http://schemas.openxmlformats.org/officeDocument/2006/relationships/image" Target="../media/image33.png"/><Relationship Id="rId4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35.png"/><Relationship Id="rId3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9.png"/><Relationship Id="rId3" Type="http://schemas.openxmlformats.org/officeDocument/2006/relationships/hyperlink" Target="https://github.com/jemiller-iwcc/python-elden-ring" TargetMode="External"/><Relationship Id="rId4" Type="http://schemas.openxmlformats.org/officeDocument/2006/relationships/image" Target="../media/image36.png"/><Relationship Id="rId5" Type="http://schemas.openxmlformats.org/officeDocument/2006/relationships/image" Target="../media/image37.svg"/><Relationship Id="rId6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8.png"/><Relationship Id="rId3" Type="http://schemas.openxmlformats.org/officeDocument/2006/relationships/hyperlink" Target="mailto:jemiller@iwcc.edu" TargetMode="External"/><Relationship Id="rId4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84;p13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Google Shape;85;p13"/>
          <p:cNvSpPr/>
          <p:nvPr/>
        </p:nvSpPr>
        <p:spPr>
          <a:xfrm>
            <a:off x="2395440" y="1700280"/>
            <a:ext cx="7400520" cy="182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PYTHON: POWER </a:t>
            </a:r>
            <a:br>
              <a:rPr sz="1800"/>
            </a:br>
            <a:r>
              <a:rPr lang="en-US" sz="600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OF THE SCRIPT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Google Shape;86;p13"/>
          <p:cNvSpPr/>
          <p:nvPr/>
        </p:nvSpPr>
        <p:spPr>
          <a:xfrm>
            <a:off x="2571840" y="3948120"/>
            <a:ext cx="704808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Coding the Lands Between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Google Shape;87;p13"/>
          <p:cNvSpPr/>
          <p:nvPr/>
        </p:nvSpPr>
        <p:spPr>
          <a:xfrm>
            <a:off x="2571840" y="4729320"/>
            <a:ext cx="704808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666666"/>
                </a:solidFill>
                <a:effectLst/>
                <a:uFillTx/>
                <a:latin typeface="Lato"/>
                <a:ea typeface="Lato"/>
              </a:rPr>
              <a:t>"Arise, </a:t>
            </a:r>
            <a:r>
              <a:rPr lang="en-US" sz="1500" b="0" i="1" u="none" strike="noStrike">
                <a:solidFill>
                  <a:srgbClr val="666666"/>
                </a:solidFill>
                <a:effectLst/>
                <a:uFillTx/>
                <a:latin typeface="Lato"/>
                <a:ea typeface="Lato"/>
              </a:rPr>
              <a:t>Tarnished, and </a:t>
            </a:r>
            <a:r>
              <a:rPr lang="en-US" sz="1500" b="0" i="1" u="none" strike="noStrike">
                <a:solidFill>
                  <a:srgbClr val="666666"/>
                </a:solidFill>
                <a:effectLst/>
                <a:uFillTx/>
                <a:latin typeface="Lato"/>
                <a:ea typeface="Lato"/>
              </a:rPr>
              <a:t>forge thy </a:t>
            </a:r>
            <a:r>
              <a:rPr lang="en-US" sz="1500" b="0" i="1" u="none" strike="noStrike">
                <a:solidFill>
                  <a:srgbClr val="666666"/>
                </a:solidFill>
                <a:effectLst/>
                <a:uFillTx/>
                <a:latin typeface="Lato"/>
                <a:ea typeface="Lato"/>
              </a:rPr>
              <a:t>journey </a:t>
            </a:r>
            <a:r>
              <a:rPr lang="en-US" sz="1500" b="0" i="1" u="none" strike="noStrike">
                <a:solidFill>
                  <a:srgbClr val="666666"/>
                </a:solidFill>
                <a:effectLst/>
                <a:uFillTx/>
                <a:latin typeface="Lato"/>
                <a:ea typeface="Lato"/>
              </a:rPr>
              <a:t>through code."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92;p14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Google Shape;95;p14"/>
          <p:cNvSpPr/>
          <p:nvPr/>
        </p:nvSpPr>
        <p:spPr>
          <a:xfrm>
            <a:off x="4381560" y="6153480"/>
            <a:ext cx="3429000" cy="18720"/>
          </a:xfrm>
          <a:prstGeom prst="rect">
            <a:avLst/>
          </a:prstGeom>
          <a:solidFill>
            <a:srgbClr val="C5A0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26640" bIns="-26640" anchor="ctr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Google Shape;94;p14"/>
          <p:cNvSpPr/>
          <p:nvPr/>
        </p:nvSpPr>
        <p:spPr>
          <a:xfrm>
            <a:off x="2324160" y="1143000"/>
            <a:ext cx="754380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666666"/>
                </a:solidFill>
                <a:effectLst/>
                <a:uFillTx/>
                <a:latin typeface="Lato"/>
                <a:ea typeface="Lato"/>
              </a:rPr>
              <a:t>Discovery Days: Python – Creating “Elden Ring”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Google Shape;93;p14"/>
          <p:cNvSpPr/>
          <p:nvPr/>
        </p:nvSpPr>
        <p:spPr>
          <a:xfrm>
            <a:off x="1600200" y="594720"/>
            <a:ext cx="891540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Iowa Western Community College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" name=""/>
          <p:cNvPicPr/>
          <p:nvPr/>
        </p:nvPicPr>
        <p:blipFill>
          <a:blip r:embed="rId2"/>
          <a:stretch/>
        </p:blipFill>
        <p:spPr>
          <a:xfrm>
            <a:off x="3934080" y="1828800"/>
            <a:ext cx="4323960" cy="4123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95;p 2"/>
          <p:cNvSpPr/>
          <p:nvPr/>
        </p:nvSpPr>
        <p:spPr>
          <a:xfrm>
            <a:off x="4381560" y="6153480"/>
            <a:ext cx="3429000" cy="18720"/>
          </a:xfrm>
          <a:prstGeom prst="rect">
            <a:avLst/>
          </a:prstGeom>
          <a:solidFill>
            <a:srgbClr val="C5A0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26640" bIns="-26640" anchor="ctr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Google Shape;94;p 2"/>
          <p:cNvSpPr/>
          <p:nvPr/>
        </p:nvSpPr>
        <p:spPr>
          <a:xfrm>
            <a:off x="2324160" y="1143000"/>
            <a:ext cx="754380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666666"/>
                </a:solidFill>
                <a:effectLst/>
                <a:uFillTx/>
                <a:latin typeface="Lato"/>
                <a:ea typeface="Lato"/>
              </a:rPr>
              <a:t>About Your Instructor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Google Shape;93;p 2"/>
          <p:cNvSpPr/>
          <p:nvPr/>
        </p:nvSpPr>
        <p:spPr>
          <a:xfrm>
            <a:off x="1600200" y="594720"/>
            <a:ext cx="891540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Iowa Western Community College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2818440" y="1878840"/>
            <a:ext cx="6555240" cy="2996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Mr. Justin Miller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Master’s Degree in Cybersecurity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Professor of Cybersecurity and Web Design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CIT Department, Iowa Western Community College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Lato"/>
                <a:hlinkClick r:id="rId1"/>
              </a:rPr>
              <a:t>jemiller@iwcc.edu</a:t>
            </a: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92;p 1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Google Shape;95;p 1"/>
          <p:cNvSpPr/>
          <p:nvPr/>
        </p:nvSpPr>
        <p:spPr>
          <a:xfrm>
            <a:off x="4343400" y="4324680"/>
            <a:ext cx="3429000" cy="18720"/>
          </a:xfrm>
          <a:prstGeom prst="rect">
            <a:avLst/>
          </a:prstGeom>
          <a:solidFill>
            <a:srgbClr val="C5A0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26640" bIns="-26640" anchor="ctr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" name="Google Shape;96;p 1"/>
          <p:cNvPicPr/>
          <p:nvPr/>
        </p:nvPicPr>
        <p:blipFill>
          <a:blip r:embed="rId2"/>
          <a:stretch/>
        </p:blipFill>
        <p:spPr>
          <a:xfrm>
            <a:off x="5557680" y="2523960"/>
            <a:ext cx="1076040" cy="95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Google Shape;94;p 1"/>
          <p:cNvSpPr/>
          <p:nvPr/>
        </p:nvSpPr>
        <p:spPr>
          <a:xfrm>
            <a:off x="4390920" y="3571920"/>
            <a:ext cx="340956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666666"/>
                </a:solidFill>
                <a:effectLst/>
                <a:uFillTx/>
                <a:latin typeface="Lato"/>
                <a:ea typeface="Lato"/>
              </a:rPr>
              <a:t>Fundamentals of Output, Color, and Logic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Google Shape;93;p 1"/>
          <p:cNvSpPr/>
          <p:nvPr/>
        </p:nvSpPr>
        <p:spPr>
          <a:xfrm>
            <a:off x="4305600" y="3267000"/>
            <a:ext cx="358020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PART I: THE FIRST GRACE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103;p 2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STEP 1: OUTPUT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Google Shape;104;p 2"/>
          <p:cNvSpPr/>
          <p:nvPr/>
        </p:nvSpPr>
        <p:spPr>
          <a:xfrm>
            <a:off x="581040" y="2162160"/>
            <a:ext cx="532404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The </a:t>
            </a: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print()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function is our first incantation. It is the first that you will learn.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Google Shape;113;p 2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MANIFESTING REALITY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Google Shape;114;p 2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" name=""/>
          <p:cNvPicPr/>
          <p:nvPr/>
        </p:nvPicPr>
        <p:blipFill>
          <a:blip r:embed="rId1"/>
          <a:stretch/>
        </p:blipFill>
        <p:spPr>
          <a:xfrm>
            <a:off x="493200" y="3165840"/>
            <a:ext cx="5648040" cy="92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Google Shape;104;p 1"/>
          <p:cNvSpPr/>
          <p:nvPr/>
        </p:nvSpPr>
        <p:spPr>
          <a:xfrm>
            <a:off x="606960" y="4387680"/>
            <a:ext cx="532404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This will output the words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Hello, World! i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n the terminal: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" name=""/>
          <p:cNvPicPr/>
          <p:nvPr/>
        </p:nvPicPr>
        <p:blipFill>
          <a:blip r:embed="rId2"/>
          <a:stretch/>
        </p:blipFill>
        <p:spPr>
          <a:xfrm>
            <a:off x="636840" y="4928040"/>
            <a:ext cx="2552400" cy="447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103;p 1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STEP 1: OUTPUT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104;p 3"/>
          <p:cNvSpPr/>
          <p:nvPr/>
        </p:nvSpPr>
        <p:spPr>
          <a:xfrm>
            <a:off x="581040" y="2162160"/>
            <a:ext cx="9879120" cy="20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file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Step1_pseudocode.py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File &gt; Save As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 as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Step1.py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On line 7, use the print() function to output the words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You Died.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to the screen.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Don’t forget the syntax: print(“Your Text”)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113;p 1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MANIFESTING REALITY: Your Turn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114;p 1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103;p 3"/>
          <p:cNvSpPr/>
          <p:nvPr/>
        </p:nvSpPr>
        <p:spPr>
          <a:xfrm>
            <a:off x="555120" y="448452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STEP 1: Running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104;p 4"/>
          <p:cNvSpPr/>
          <p:nvPr/>
        </p:nvSpPr>
        <p:spPr>
          <a:xfrm>
            <a:off x="485640" y="4916160"/>
            <a:ext cx="98791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terminal if it is not yet: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the icons that look similar to this: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the Terminal Tab in the window that opens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Run the program: python Step1.py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" name=""/>
          <p:cNvPicPr/>
          <p:nvPr/>
        </p:nvPicPr>
        <p:blipFill>
          <a:blip r:embed="rId1"/>
          <a:stretch/>
        </p:blipFill>
        <p:spPr>
          <a:xfrm>
            <a:off x="4732200" y="5353200"/>
            <a:ext cx="771120" cy="34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oogle Shape;101;p15"/>
          <p:cNvPicPr/>
          <p:nvPr/>
        </p:nvPicPr>
        <p:blipFill>
          <a:blip r:embed="rId1"/>
          <a:stretch/>
        </p:blipFill>
        <p:spPr>
          <a:xfrm>
            <a:off x="-17280" y="15588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Google Shape;103;p15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STEP 1a: OUTPUT, but with color!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104;p15"/>
          <p:cNvSpPr/>
          <p:nvPr/>
        </p:nvSpPr>
        <p:spPr>
          <a:xfrm>
            <a:off x="581040" y="2340720"/>
            <a:ext cx="532404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The </a:t>
            </a: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print()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function is our first incantation. We use ANSI escape sequences for color.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4" name="Google Shape;105;p15"/>
          <p:cNvPicPr/>
          <p:nvPr/>
        </p:nvPicPr>
        <p:blipFill>
          <a:blip r:embed="rId2"/>
          <a:stretch/>
        </p:blipFill>
        <p:spPr>
          <a:xfrm>
            <a:off x="8691480" y="1905120"/>
            <a:ext cx="514080" cy="45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Google Shape;106;p15"/>
          <p:cNvSpPr/>
          <p:nvPr/>
        </p:nvSpPr>
        <p:spPr>
          <a:xfrm>
            <a:off x="6581880" y="2552760"/>
            <a:ext cx="4733640" cy="102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Important: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Escape codes like \033[91m tell the terminal to change state. We must </a:t>
            </a: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Reset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the color or the screen will remain forever!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107;p15"/>
          <p:cNvSpPr/>
          <p:nvPr/>
        </p:nvSpPr>
        <p:spPr>
          <a:xfrm>
            <a:off x="809640" y="3067200"/>
            <a:ext cx="245484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6272A4"/>
                </a:solidFill>
                <a:effectLst/>
                <a:uFillTx/>
                <a:latin typeface="Fira Code"/>
                <a:ea typeface="Fira Code"/>
              </a:rPr>
              <a:t># Color Examples: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Google Shape;113;p15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MANIFESTING REALITY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Google Shape;114;p15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559440" y="3478320"/>
            <a:ext cx="3354480" cy="3465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34"/>
              </a:spcBef>
              <a:spcAft>
                <a:spcPts val="1134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BF0041"/>
                </a:solidFill>
                <a:effectLst/>
                <a:uFillTx/>
                <a:latin typeface="Arial"/>
                <a:ea typeface="Linux Libertine G"/>
              </a:rPr>
              <a:t>RED</a:t>
            </a: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Linux Libertine G"/>
              </a:rPr>
              <a:t> = "\033[91m"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34"/>
              </a:spcBef>
              <a:spcAft>
                <a:spcPts val="1134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158466"/>
                </a:solidFill>
                <a:effectLst/>
                <a:uFillTx/>
                <a:latin typeface="Arial"/>
                <a:ea typeface="Linux Libertine G"/>
              </a:rPr>
              <a:t>GREEN</a:t>
            </a: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Linux Libertine G"/>
              </a:rPr>
              <a:t> = "\033[92m"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34"/>
              </a:spcBef>
              <a:spcAft>
                <a:spcPts val="1134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FFFF00"/>
                </a:solidFill>
                <a:effectLst/>
                <a:uFillTx/>
                <a:latin typeface="Arial"/>
                <a:ea typeface="Linux Libertine G"/>
              </a:rPr>
              <a:t>YELLOW</a:t>
            </a: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Linux Libertine G"/>
              </a:rPr>
              <a:t> = "\033[93m"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34"/>
              </a:spcBef>
              <a:spcAft>
                <a:spcPts val="1134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465A4"/>
                </a:solidFill>
                <a:effectLst/>
                <a:uFillTx/>
                <a:latin typeface="Arial"/>
                <a:ea typeface="Linux Libertine G"/>
              </a:rPr>
              <a:t>CYAN</a:t>
            </a: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Linux Libertine G"/>
              </a:rPr>
              <a:t> = "\033[96m"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34"/>
              </a:spcBef>
              <a:spcAft>
                <a:spcPts val="1134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Linux Libertine G"/>
              </a:rPr>
              <a:t>RESET = "\033[0m"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Google Shape;103;p 4"/>
          <p:cNvSpPr/>
          <p:nvPr/>
        </p:nvSpPr>
        <p:spPr>
          <a:xfrm>
            <a:off x="581400" y="160992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STEP 1a: OUTPUT, but with color!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Google Shape;103;p 5"/>
          <p:cNvSpPr/>
          <p:nvPr/>
        </p:nvSpPr>
        <p:spPr>
          <a:xfrm>
            <a:off x="7447680" y="3748680"/>
            <a:ext cx="317268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How does it look?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" name=""/>
          <p:cNvPicPr/>
          <p:nvPr/>
        </p:nvPicPr>
        <p:blipFill>
          <a:blip r:embed="rId3"/>
          <a:stretch/>
        </p:blipFill>
        <p:spPr>
          <a:xfrm>
            <a:off x="5963040" y="4263480"/>
            <a:ext cx="5790960" cy="108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" name=""/>
          <p:cNvPicPr/>
          <p:nvPr/>
        </p:nvPicPr>
        <p:blipFill>
          <a:blip r:embed="rId4"/>
          <a:stretch/>
        </p:blipFill>
        <p:spPr>
          <a:xfrm>
            <a:off x="7752960" y="5429880"/>
            <a:ext cx="2695320" cy="46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103;p 6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STEP 1: OUTPUT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Google Shape;104;p 7"/>
          <p:cNvSpPr/>
          <p:nvPr/>
        </p:nvSpPr>
        <p:spPr>
          <a:xfrm>
            <a:off x="581040" y="2162160"/>
            <a:ext cx="9879120" cy="21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File &gt; Save As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open file as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Step1a.py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On line 7, edit the print() function to output the words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You Died.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to the screen in a befitting red color.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Don’t forget the syntax: print(“’open escape sequence’Your Text’reset escape sequence’”)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BF0041"/>
                </a:solidFill>
                <a:effectLst/>
                <a:uFillTx/>
                <a:latin typeface="Arial"/>
                <a:ea typeface="Linux Libertine G"/>
              </a:rPr>
              <a:t>RED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Linux Libertine G"/>
              </a:rPr>
              <a:t> = \033[91m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Linux Libertine G"/>
              </a:rPr>
              <a:t>RESET = \033[0m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Google Shape;113;p 4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Color: Your Turn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Google Shape;114;p 4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Google Shape;103;p 8"/>
          <p:cNvSpPr/>
          <p:nvPr/>
        </p:nvSpPr>
        <p:spPr>
          <a:xfrm>
            <a:off x="555120" y="448452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STEP 1: Running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Google Shape;104;p 8"/>
          <p:cNvSpPr/>
          <p:nvPr/>
        </p:nvSpPr>
        <p:spPr>
          <a:xfrm>
            <a:off x="485640" y="4916160"/>
            <a:ext cx="98791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terminal if it is not yet: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the icons that look similar to this: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the Terminal Tab in the window that opens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Run the program: python Step1a.py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" name=""/>
          <p:cNvPicPr/>
          <p:nvPr/>
        </p:nvPicPr>
        <p:blipFill>
          <a:blip r:embed="rId1"/>
          <a:stretch/>
        </p:blipFill>
        <p:spPr>
          <a:xfrm>
            <a:off x="4732200" y="5353200"/>
            <a:ext cx="771120" cy="34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119;p16"/>
          <p:cNvPicPr/>
          <p:nvPr/>
        </p:nvPicPr>
        <p:blipFill>
          <a:blip r:embed="rId1"/>
          <a:stretch/>
        </p:blipFill>
        <p:spPr>
          <a:xfrm>
            <a:off x="-8640" y="-46764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Google Shape;121;p16"/>
          <p:cNvSpPr/>
          <p:nvPr/>
        </p:nvSpPr>
        <p:spPr>
          <a:xfrm>
            <a:off x="581040" y="1609560"/>
            <a:ext cx="532404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If/Elif/Else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logic mirrors the branching choices in the game. We path the player based on their input.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Google Shape;122;p16"/>
          <p:cNvSpPr/>
          <p:nvPr/>
        </p:nvSpPr>
        <p:spPr>
          <a:xfrm>
            <a:off x="6286680" y="1800360"/>
            <a:ext cx="532404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136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Logic Hierarchy: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4" name="Google Shape;136;p16"/>
          <p:cNvPicPr/>
          <p:nvPr/>
        </p:nvPicPr>
        <p:blipFill>
          <a:blip r:embed="rId2"/>
          <a:stretch/>
        </p:blipFill>
        <p:spPr>
          <a:xfrm>
            <a:off x="6286680" y="1857240"/>
            <a:ext cx="1710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Google Shape;137;p16"/>
          <p:cNvSpPr/>
          <p:nvPr/>
        </p:nvSpPr>
        <p:spPr>
          <a:xfrm>
            <a:off x="6286680" y="2238480"/>
            <a:ext cx="532404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If: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The primary condition.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138;p16"/>
          <p:cNvSpPr/>
          <p:nvPr/>
        </p:nvSpPr>
        <p:spPr>
          <a:xfrm>
            <a:off x="6286680" y="2666880"/>
            <a:ext cx="532404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Elif: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Chained alternative conditions.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Google Shape;139;p16"/>
          <p:cNvSpPr/>
          <p:nvPr/>
        </p:nvSpPr>
        <p:spPr>
          <a:xfrm>
            <a:off x="6286680" y="3095640"/>
            <a:ext cx="532404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Else: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The catch-all (the "everything else" path).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Google Shape;140;p16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User Input and Choices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Google Shape;141;p16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122;p 1"/>
          <p:cNvSpPr/>
          <p:nvPr/>
        </p:nvSpPr>
        <p:spPr>
          <a:xfrm>
            <a:off x="6287040" y="1800720"/>
            <a:ext cx="532404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136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Logic Hierarchy: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122;p 2"/>
          <p:cNvSpPr/>
          <p:nvPr/>
        </p:nvSpPr>
        <p:spPr>
          <a:xfrm>
            <a:off x="6123240" y="4661640"/>
            <a:ext cx="532404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136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Input: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A way to interact with the user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Google Shape;122;p 3"/>
          <p:cNvSpPr/>
          <p:nvPr/>
        </p:nvSpPr>
        <p:spPr>
          <a:xfrm>
            <a:off x="6123240" y="3533040"/>
            <a:ext cx="532404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136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Variables: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A way to store a value by the program to be used later.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Google Shape;119;p 1"/>
          <p:cNvPicPr/>
          <p:nvPr/>
        </p:nvPicPr>
        <p:blipFill>
          <a:blip r:embed="rId1"/>
          <a:stretch/>
        </p:blipFill>
        <p:spPr>
          <a:xfrm>
            <a:off x="-8640" y="-46764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Google Shape;140;p 1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User Input and Choices: How it Looks in Python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Google Shape;141;p 1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6" name=""/>
          <p:cNvPicPr/>
          <p:nvPr/>
        </p:nvPicPr>
        <p:blipFill>
          <a:blip r:embed="rId2"/>
          <a:stretch/>
        </p:blipFill>
        <p:spPr>
          <a:xfrm>
            <a:off x="1032840" y="1632240"/>
            <a:ext cx="8619840" cy="1809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" name=""/>
          <p:cNvPicPr/>
          <p:nvPr/>
        </p:nvPicPr>
        <p:blipFill>
          <a:blip r:embed="rId3"/>
          <a:stretch/>
        </p:blipFill>
        <p:spPr>
          <a:xfrm>
            <a:off x="1109160" y="3845880"/>
            <a:ext cx="4562280" cy="1476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103;p 7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104;p 5"/>
          <p:cNvSpPr/>
          <p:nvPr/>
        </p:nvSpPr>
        <p:spPr>
          <a:xfrm>
            <a:off x="581040" y="2162160"/>
            <a:ext cx="9879120" cy="17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file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Step2_pseudocode.py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File &gt; Save As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 as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Step2.py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Use the commented pesudocode to guide you with using input and if/else statements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Google Shape;113;p 3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User Input and Choices: Your Turn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Google Shape;114;p 3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Google Shape;103;p 9"/>
          <p:cNvSpPr/>
          <p:nvPr/>
        </p:nvSpPr>
        <p:spPr>
          <a:xfrm>
            <a:off x="555120" y="448452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Running your 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Google Shape;104;p 6"/>
          <p:cNvSpPr/>
          <p:nvPr/>
        </p:nvSpPr>
        <p:spPr>
          <a:xfrm>
            <a:off x="485640" y="4916160"/>
            <a:ext cx="98791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terminal if it is not yet: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the icons that look similar to this: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the Terminal Tab in the window that opens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Run the program: python Step2.py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4" name=""/>
          <p:cNvPicPr/>
          <p:nvPr/>
        </p:nvPicPr>
        <p:blipFill>
          <a:blip r:embed="rId1"/>
          <a:stretch/>
        </p:blipFill>
        <p:spPr>
          <a:xfrm>
            <a:off x="4732200" y="5353200"/>
            <a:ext cx="771120" cy="34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119;p 2"/>
          <p:cNvSpPr txBox="1"/>
          <p:nvPr/>
        </p:nvSpPr>
        <p:spPr>
          <a:xfrm>
            <a:off x="-8640" y="-467640"/>
            <a:ext cx="12191760" cy="6857640"/>
          </a:xfrm>
          <a:prstGeom prst="rect">
            <a:avLst/>
          </a:prstGeom>
          <a:blipFill rotWithShape="0">
            <a:blip r:embed="rId1"/>
            <a:stretch/>
          </a:blipFill>
          <a:ln w="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Google Shape;140;p 3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User Input and Choices: Making it case-insensitive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Google Shape;141;p 3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" name=""/>
          <p:cNvPicPr/>
          <p:nvPr/>
        </p:nvPicPr>
        <p:blipFill>
          <a:blip r:embed="rId2"/>
          <a:stretch/>
        </p:blipFill>
        <p:spPr>
          <a:xfrm>
            <a:off x="1928160" y="1784520"/>
            <a:ext cx="7505280" cy="74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"/>
          <p:cNvSpPr txBox="1"/>
          <p:nvPr/>
        </p:nvSpPr>
        <p:spPr>
          <a:xfrm>
            <a:off x="1896480" y="2736000"/>
            <a:ext cx="4653360" cy="213804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This allows for all input to be read the same: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Bob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bob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BOB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bOb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These all will be read by Python as: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bob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162;p18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1" name="Google Shape;163;p18"/>
          <p:cNvPicPr/>
          <p:nvPr/>
        </p:nvPicPr>
        <p:blipFill>
          <a:blip r:embed="rId2"/>
          <a:stretch/>
        </p:blipFill>
        <p:spPr>
          <a:xfrm>
            <a:off x="6286680" y="1609560"/>
            <a:ext cx="5324040" cy="3333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2" name="Google Shape;164;p18"/>
          <p:cNvPicPr/>
          <p:nvPr/>
        </p:nvPicPr>
        <p:blipFill>
          <a:blip r:embed="rId3"/>
          <a:stretch/>
        </p:blipFill>
        <p:spPr>
          <a:xfrm>
            <a:off x="581040" y="2343240"/>
            <a:ext cx="5324040" cy="837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3" name="Google Shape;165;p18"/>
          <p:cNvPicPr/>
          <p:nvPr/>
        </p:nvPicPr>
        <p:blipFill>
          <a:blip r:embed="rId4"/>
          <a:stretch/>
        </p:blipFill>
        <p:spPr>
          <a:xfrm>
            <a:off x="6287400" y="5174280"/>
            <a:ext cx="5324040" cy="73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Google Shape;166;p18"/>
          <p:cNvSpPr/>
          <p:nvPr/>
        </p:nvSpPr>
        <p:spPr>
          <a:xfrm>
            <a:off x="581040" y="1609560"/>
            <a:ext cx="532404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 3: Randomness.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We import the random module to simulate the dice rolls of battle.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Google Shape;167;p18"/>
          <p:cNvSpPr/>
          <p:nvPr/>
        </p:nvSpPr>
        <p:spPr>
          <a:xfrm>
            <a:off x="581040" y="3324240"/>
            <a:ext cx="5324040" cy="102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We have the user pick a number. Random simulates the enemy picking a number. Matching numbers means the beast is vanquished. Failure means the player's end.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6" name="Google Shape;168;p18"/>
          <p:cNvPicPr/>
          <p:nvPr/>
        </p:nvPicPr>
        <p:blipFill>
          <a:blip r:embed="rId5"/>
          <a:stretch/>
        </p:blipFill>
        <p:spPr>
          <a:xfrm>
            <a:off x="6296040" y="1619280"/>
            <a:ext cx="5304960" cy="331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" name="Google Shape;169;p18"/>
          <p:cNvSpPr/>
          <p:nvPr/>
        </p:nvSpPr>
        <p:spPr>
          <a:xfrm>
            <a:off x="809640" y="2533680"/>
            <a:ext cx="62820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F79C6"/>
                </a:solidFill>
                <a:effectLst/>
                <a:uFillTx/>
                <a:latin typeface="Fira Code"/>
                <a:ea typeface="Fira Code"/>
              </a:rPr>
              <a:t>import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Google Shape;170;p18"/>
          <p:cNvSpPr/>
          <p:nvPr/>
        </p:nvSpPr>
        <p:spPr>
          <a:xfrm>
            <a:off x="1647720" y="2762280"/>
            <a:ext cx="31392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50FA7B"/>
                </a:solidFill>
                <a:effectLst/>
                <a:uFillTx/>
                <a:latin typeface="Fira Code"/>
                <a:ea typeface="Fira Code"/>
              </a:rPr>
              <a:t>str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Google Shape;171;p18"/>
          <p:cNvSpPr/>
          <p:nvPr/>
        </p:nvSpPr>
        <p:spPr>
          <a:xfrm>
            <a:off x="2800440" y="2762280"/>
            <a:ext cx="73296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50FA7B"/>
                </a:solidFill>
                <a:effectLst/>
                <a:uFillTx/>
                <a:latin typeface="Fira Code"/>
                <a:ea typeface="Fira Code"/>
              </a:rPr>
              <a:t>randint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Google Shape;172;p18"/>
          <p:cNvSpPr/>
          <p:nvPr/>
        </p:nvSpPr>
        <p:spPr>
          <a:xfrm>
            <a:off x="3638520" y="2762280"/>
            <a:ext cx="10440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8F2"/>
                </a:solidFill>
                <a:effectLst/>
                <a:uFillTx/>
                <a:latin typeface="Fira Code"/>
                <a:ea typeface="Fira Code"/>
              </a:rPr>
              <a:t>0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Google Shape;173;p18"/>
          <p:cNvSpPr/>
          <p:nvPr/>
        </p:nvSpPr>
        <p:spPr>
          <a:xfrm>
            <a:off x="3952800" y="2762280"/>
            <a:ext cx="10440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8F2"/>
                </a:solidFill>
                <a:effectLst/>
                <a:uFillTx/>
                <a:latin typeface="Fira Code"/>
                <a:ea typeface="Fira Code"/>
              </a:rPr>
              <a:t>1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174;p18"/>
          <p:cNvSpPr/>
          <p:nvPr/>
        </p:nvSpPr>
        <p:spPr>
          <a:xfrm>
            <a:off x="6582600" y="5269680"/>
            <a:ext cx="492408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5A059"/>
                </a:solidFill>
                <a:effectLst/>
                <a:uFillTx/>
                <a:latin typeface="Lato"/>
                <a:ea typeface="Lato"/>
              </a:rPr>
              <a:t>"Thy kind are denied the Elden Ring... unless the code holds true."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175;p18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THE FIRST BEAST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176;p18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3;p 10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104;p 9"/>
          <p:cNvSpPr/>
          <p:nvPr/>
        </p:nvSpPr>
        <p:spPr>
          <a:xfrm>
            <a:off x="581040" y="2162160"/>
            <a:ext cx="9879120" cy="17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file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Step3_pseudocode.py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File &gt; Save As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 as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Step3.py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Use the commented pesudocode to guide you with developing your code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113;p 5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Beast Battle: Your Turn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114;p 5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103;p 11"/>
          <p:cNvSpPr/>
          <p:nvPr/>
        </p:nvSpPr>
        <p:spPr>
          <a:xfrm>
            <a:off x="555120" y="448452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Running your 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Google Shape;104;p 10"/>
          <p:cNvSpPr/>
          <p:nvPr/>
        </p:nvSpPr>
        <p:spPr>
          <a:xfrm>
            <a:off x="485640" y="4916160"/>
            <a:ext cx="98791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terminal if it is not yet: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the icons that look similar to this: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the Terminal Tab in the window that opens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Run the program: python Step3.py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1" name=""/>
          <p:cNvPicPr/>
          <p:nvPr/>
        </p:nvPicPr>
        <p:blipFill>
          <a:blip r:embed="rId1"/>
          <a:stretch/>
        </p:blipFill>
        <p:spPr>
          <a:xfrm>
            <a:off x="4732200" y="5353200"/>
            <a:ext cx="771120" cy="34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81;p19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3" name="Google Shape;182;p19"/>
          <p:cNvPicPr/>
          <p:nvPr/>
        </p:nvPicPr>
        <p:blipFill>
          <a:blip r:embed="rId2"/>
          <a:stretch/>
        </p:blipFill>
        <p:spPr>
          <a:xfrm>
            <a:off x="6286680" y="2876400"/>
            <a:ext cx="5324040" cy="60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Google Shape;183;p19"/>
          <p:cNvSpPr/>
          <p:nvPr/>
        </p:nvSpPr>
        <p:spPr>
          <a:xfrm>
            <a:off x="581040" y="1609560"/>
            <a:ext cx="53240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8B0000"/>
                </a:solidFill>
                <a:effectLst/>
                <a:uFillTx/>
                <a:latin typeface="Cinzel"/>
                <a:ea typeface="Cinzel"/>
              </a:rPr>
              <a:t>Success Rate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184;p19"/>
          <p:cNvSpPr/>
          <p:nvPr/>
        </p:nvSpPr>
        <p:spPr>
          <a:xfrm>
            <a:off x="581040" y="2095560"/>
            <a:ext cx="5324040" cy="171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1250" b="1" u="none" strike="noStrike">
                <a:solidFill>
                  <a:srgbClr val="8B0000"/>
                </a:solidFill>
                <a:effectLst/>
                <a:uFillTx/>
                <a:latin typeface="Cinzel"/>
                <a:ea typeface="Cinzel"/>
              </a:rPr>
              <a:t>10%</a:t>
            </a:r>
            <a:endParaRPr lang="en-US" sz="1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185;p19"/>
          <p:cNvSpPr/>
          <p:nvPr/>
        </p:nvSpPr>
        <p:spPr>
          <a:xfrm>
            <a:off x="581040" y="4019400"/>
            <a:ext cx="532404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AAAAAA"/>
                </a:solidFill>
                <a:effectLst/>
                <a:uFillTx/>
                <a:latin typeface="Lato"/>
                <a:ea typeface="Lato"/>
              </a:rPr>
              <a:t>Probability vs. Margit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186;p19"/>
          <p:cNvSpPr/>
          <p:nvPr/>
        </p:nvSpPr>
        <p:spPr>
          <a:xfrm>
            <a:off x="628668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STEP 4: SCALING DIFFICULTY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187;p19"/>
          <p:cNvSpPr/>
          <p:nvPr/>
        </p:nvSpPr>
        <p:spPr>
          <a:xfrm>
            <a:off x="6286680" y="2162160"/>
            <a:ext cx="532404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We increase the random range to </a:t>
            </a: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0-9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. The player's survival now requires a precise 1 in 10 guess.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188;p19"/>
          <p:cNvSpPr/>
          <p:nvPr/>
        </p:nvSpPr>
        <p:spPr>
          <a:xfrm>
            <a:off x="6286680" y="3629160"/>
            <a:ext cx="5324040" cy="102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Note: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We reuse variables like enemy and beast because we no longer need the previous battle's data. This is memory efficiency.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189;p19"/>
          <p:cNvSpPr/>
          <p:nvPr/>
        </p:nvSpPr>
        <p:spPr>
          <a:xfrm>
            <a:off x="7353360" y="3067200"/>
            <a:ext cx="31392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50FA7B"/>
                </a:solidFill>
                <a:effectLst/>
                <a:uFillTx/>
                <a:latin typeface="Fira Code"/>
                <a:ea typeface="Fira Code"/>
              </a:rPr>
              <a:t>str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190;p19"/>
          <p:cNvSpPr/>
          <p:nvPr/>
        </p:nvSpPr>
        <p:spPr>
          <a:xfrm>
            <a:off x="8505720" y="3067200"/>
            <a:ext cx="73296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50FA7B"/>
                </a:solidFill>
                <a:effectLst/>
                <a:uFillTx/>
                <a:latin typeface="Fira Code"/>
                <a:ea typeface="Fira Code"/>
              </a:rPr>
              <a:t>randint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191;p19"/>
          <p:cNvSpPr/>
          <p:nvPr/>
        </p:nvSpPr>
        <p:spPr>
          <a:xfrm>
            <a:off x="9344160" y="3067200"/>
            <a:ext cx="10440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8F2"/>
                </a:solidFill>
                <a:effectLst/>
                <a:uFillTx/>
                <a:latin typeface="Fira Code"/>
                <a:ea typeface="Fira Code"/>
              </a:rPr>
              <a:t>0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192;p19"/>
          <p:cNvSpPr/>
          <p:nvPr/>
        </p:nvSpPr>
        <p:spPr>
          <a:xfrm>
            <a:off x="9658440" y="3067200"/>
            <a:ext cx="10440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8F2"/>
                </a:solidFill>
                <a:effectLst/>
                <a:uFillTx/>
                <a:latin typeface="Fira Code"/>
                <a:ea typeface="Fira Code"/>
              </a:rPr>
              <a:t>9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193;p19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THE BOSS BATTLE: Margit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Google Shape;194;p19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03;p 12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Google Shape;104;p 11"/>
          <p:cNvSpPr/>
          <p:nvPr/>
        </p:nvSpPr>
        <p:spPr>
          <a:xfrm>
            <a:off x="581040" y="2162160"/>
            <a:ext cx="9879120" cy="20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file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Step3.py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File &gt; Save As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 as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Step4.py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Copy all code (except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import random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) and paste at the bottom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Edit the pasted code to reflect a boss battle against Margit with a 1 in 10 chance of winning.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Google Shape;113;p 6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Boss Battle: Your Turn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114;p 6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Google Shape;103;p 13"/>
          <p:cNvSpPr/>
          <p:nvPr/>
        </p:nvSpPr>
        <p:spPr>
          <a:xfrm>
            <a:off x="555120" y="448452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Running your 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Google Shape;104;p 12"/>
          <p:cNvSpPr/>
          <p:nvPr/>
        </p:nvSpPr>
        <p:spPr>
          <a:xfrm>
            <a:off x="485640" y="4916160"/>
            <a:ext cx="98791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terminal if it is not yet: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the icons that look similar to this: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the Terminal Tab in the window that opens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Run the program: python Step4.py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2" name=""/>
          <p:cNvPicPr/>
          <p:nvPr/>
        </p:nvPicPr>
        <p:blipFill>
          <a:blip r:embed="rId1"/>
          <a:stretch/>
        </p:blipFill>
        <p:spPr>
          <a:xfrm>
            <a:off x="4221360" y="5353200"/>
            <a:ext cx="771120" cy="34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03;p 14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Bugs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104;p 13"/>
          <p:cNvSpPr/>
          <p:nvPr/>
        </p:nvSpPr>
        <p:spPr>
          <a:xfrm>
            <a:off x="581040" y="2162160"/>
            <a:ext cx="9879120" cy="102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Some bugs are obvious: They won’t let you run your code at all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Others, not so obvious. They run but things don’t work as you might expect.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Can you see the issue with ours?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113;p 7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Boss Battle: A Fatal Flaw in Our Code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Google Shape;114;p 7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03;p 15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Bugs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Google Shape;104;p 14"/>
          <p:cNvSpPr/>
          <p:nvPr/>
        </p:nvSpPr>
        <p:spPr>
          <a:xfrm>
            <a:off x="581040" y="2162160"/>
            <a:ext cx="9879120" cy="17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If we lose to the first beast, we shouldn’t be able to move onto fight Margit.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Currently, our code still lets us.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There is a simple, elegant solution to this: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exit()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Adding this line after our “You Died” print statement of the first battle ensures that the game exits if we lose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Google Shape;113;p 8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Boss Battle: A Fatal Flaw in Our Code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114;p 8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99;p20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2" name="Google Shape;200;p20"/>
          <p:cNvPicPr/>
          <p:nvPr/>
        </p:nvPicPr>
        <p:blipFill>
          <a:blip r:embed="rId2"/>
          <a:stretch/>
        </p:blipFill>
        <p:spPr>
          <a:xfrm>
            <a:off x="581040" y="1609560"/>
            <a:ext cx="5371920" cy="3085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3" name="Google Shape;201;p20"/>
          <p:cNvPicPr/>
          <p:nvPr/>
        </p:nvPicPr>
        <p:blipFill>
          <a:blip r:embed="rId3"/>
          <a:stretch/>
        </p:blipFill>
        <p:spPr>
          <a:xfrm>
            <a:off x="6238800" y="1609560"/>
            <a:ext cx="5371920" cy="3085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4" name="Google Shape;204;p20"/>
          <p:cNvPicPr/>
          <p:nvPr/>
        </p:nvPicPr>
        <p:blipFill>
          <a:blip r:embed="rId4"/>
          <a:stretch/>
        </p:blipFill>
        <p:spPr>
          <a:xfrm>
            <a:off x="3100320" y="1905120"/>
            <a:ext cx="333000" cy="38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Google Shape;205;p20"/>
          <p:cNvSpPr/>
          <p:nvPr/>
        </p:nvSpPr>
        <p:spPr>
          <a:xfrm>
            <a:off x="756720" y="2428920"/>
            <a:ext cx="502020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THE OR OPERATOR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Google Shape;206;p20"/>
          <p:cNvSpPr/>
          <p:nvPr/>
        </p:nvSpPr>
        <p:spPr>
          <a:xfrm>
            <a:off x="876240" y="2981160"/>
            <a:ext cx="478116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Used to check for cheat codes like the Konami code.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Best for one to three choices.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7" name="Google Shape;207;p20"/>
          <p:cNvPicPr/>
          <p:nvPr/>
        </p:nvPicPr>
        <p:blipFill>
          <a:blip r:embed="rId5"/>
          <a:stretch/>
        </p:blipFill>
        <p:spPr>
          <a:xfrm>
            <a:off x="8734320" y="1905120"/>
            <a:ext cx="380520" cy="38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Google Shape;208;p20"/>
          <p:cNvSpPr/>
          <p:nvPr/>
        </p:nvSpPr>
        <p:spPr>
          <a:xfrm>
            <a:off x="6414480" y="2428920"/>
            <a:ext cx="502020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THE IN KEYWORD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Google Shape;209;p20"/>
          <p:cNvSpPr/>
          <p:nvPr/>
        </p:nvSpPr>
        <p:spPr>
          <a:xfrm>
            <a:off x="6534000" y="2981160"/>
            <a:ext cx="478116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Used for clean lists. Far superior to multiple OR statements when there are many choices.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Google Shape;218;p20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THE HIDDEN RUNES: Adding A Cheat Code WITH “OR”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Google Shape;219;p20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2" name=""/>
          <p:cNvPicPr/>
          <p:nvPr/>
        </p:nvPicPr>
        <p:blipFill>
          <a:blip r:embed="rId6"/>
          <a:stretch/>
        </p:blipFill>
        <p:spPr>
          <a:xfrm>
            <a:off x="1380960" y="3784680"/>
            <a:ext cx="3628800" cy="27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3" name=""/>
          <p:cNvPicPr/>
          <p:nvPr/>
        </p:nvPicPr>
        <p:blipFill>
          <a:blip r:embed="rId7"/>
          <a:stretch/>
        </p:blipFill>
        <p:spPr>
          <a:xfrm>
            <a:off x="7154280" y="3837960"/>
            <a:ext cx="3580920" cy="342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4" name=""/>
          <p:cNvPicPr/>
          <p:nvPr/>
        </p:nvPicPr>
        <p:blipFill>
          <a:blip r:embed="rId8"/>
          <a:stretch/>
        </p:blipFill>
        <p:spPr>
          <a:xfrm>
            <a:off x="658800" y="5227200"/>
            <a:ext cx="10562760" cy="11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5" name="Google Shape;200;p 1"/>
          <p:cNvPicPr/>
          <p:nvPr/>
        </p:nvPicPr>
        <p:blipFill>
          <a:blip r:embed="rId9"/>
          <a:stretch/>
        </p:blipFill>
        <p:spPr>
          <a:xfrm>
            <a:off x="545760" y="4840200"/>
            <a:ext cx="11014200" cy="170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" name="Google Shape;206;p 1"/>
          <p:cNvSpPr/>
          <p:nvPr/>
        </p:nvSpPr>
        <p:spPr>
          <a:xfrm>
            <a:off x="2337840" y="4805640"/>
            <a:ext cx="751608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These both complete the same task, but one is far more efficient: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03;p 17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Google Shape;104;p 15"/>
          <p:cNvSpPr/>
          <p:nvPr/>
        </p:nvSpPr>
        <p:spPr>
          <a:xfrm>
            <a:off x="581040" y="2162160"/>
            <a:ext cx="9879120" cy="17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file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Step4.py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File &gt; Save As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 as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Step5.py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Add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or enemy == “uuddlrlrba” 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at the end of the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if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statements for the battles before the colon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Google Shape;113;p 9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Cheat Codes: Your Turn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Google Shape;114;p 9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Google Shape;103;p 19"/>
          <p:cNvSpPr/>
          <p:nvPr/>
        </p:nvSpPr>
        <p:spPr>
          <a:xfrm>
            <a:off x="555120" y="448452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Running your 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Google Shape;104;p 16"/>
          <p:cNvSpPr/>
          <p:nvPr/>
        </p:nvSpPr>
        <p:spPr>
          <a:xfrm>
            <a:off x="485640" y="4916160"/>
            <a:ext cx="9879120" cy="17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terminal if it is not yet: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the icons that look similar to this: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the Terminal Tab in the window that opens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Run the program: python Step5.py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Instead of a number, try typing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uuddlrlrba 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as your input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3" name=""/>
          <p:cNvPicPr/>
          <p:nvPr/>
        </p:nvPicPr>
        <p:blipFill>
          <a:blip r:embed="rId1"/>
          <a:stretch/>
        </p:blipFill>
        <p:spPr>
          <a:xfrm>
            <a:off x="4221360" y="5353200"/>
            <a:ext cx="771120" cy="34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224;p21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5" name="Google Shape;225;p21"/>
          <p:cNvPicPr/>
          <p:nvPr/>
        </p:nvPicPr>
        <p:blipFill>
          <a:blip r:embed="rId2"/>
          <a:stretch/>
        </p:blipFill>
        <p:spPr>
          <a:xfrm>
            <a:off x="581040" y="2486160"/>
            <a:ext cx="4943160" cy="133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Google Shape;226;p21"/>
          <p:cNvSpPr/>
          <p:nvPr/>
        </p:nvSpPr>
        <p:spPr>
          <a:xfrm>
            <a:off x="581040" y="581040"/>
            <a:ext cx="519012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THE TRAP LOOP: While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Google Shape;227;p21"/>
          <p:cNvSpPr/>
          <p:nvPr/>
        </p:nvSpPr>
        <p:spPr>
          <a:xfrm>
            <a:off x="581040" y="1219320"/>
            <a:ext cx="494316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8" name="Google Shape;228;p21"/>
          <p:cNvPicPr/>
          <p:nvPr/>
        </p:nvPicPr>
        <p:blipFill>
          <a:blip r:embed="rId3"/>
          <a:stretch/>
        </p:blipFill>
        <p:spPr>
          <a:xfrm>
            <a:off x="6095880" y="9360"/>
            <a:ext cx="60861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Google Shape;229;p21"/>
          <p:cNvSpPr/>
          <p:nvPr/>
        </p:nvSpPr>
        <p:spPr>
          <a:xfrm>
            <a:off x="581040" y="1609560"/>
            <a:ext cx="494316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 6: Input Validation.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We use a while True loop to trap the player until they provide a valid number.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Google Shape;230;p21"/>
          <p:cNvSpPr/>
          <p:nvPr/>
        </p:nvSpPr>
        <p:spPr>
          <a:xfrm>
            <a:off x="581040" y="3962520"/>
            <a:ext cx="494316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The </a:t>
            </a: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break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statement is the key to escaping the cycle once rules are followed.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Google Shape;231;p21"/>
          <p:cNvSpPr/>
          <p:nvPr/>
        </p:nvSpPr>
        <p:spPr>
          <a:xfrm>
            <a:off x="809640" y="2676600"/>
            <a:ext cx="85680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FF79C6"/>
                </a:solidFill>
                <a:effectLst/>
                <a:uFillTx/>
                <a:latin typeface="Fira Code"/>
                <a:ea typeface="Fira Code"/>
              </a:rPr>
              <a:t>while True</a:t>
            </a:r>
            <a:endParaRPr lang="en-US" sz="11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Google Shape;232;p21"/>
          <p:cNvSpPr/>
          <p:nvPr/>
        </p:nvSpPr>
        <p:spPr>
          <a:xfrm>
            <a:off x="1666800" y="2867040"/>
            <a:ext cx="42840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50FA7B"/>
                </a:solidFill>
                <a:effectLst/>
                <a:uFillTx/>
                <a:latin typeface="Fira Code"/>
                <a:ea typeface="Fira Code"/>
              </a:rPr>
              <a:t>input</a:t>
            </a:r>
            <a:endParaRPr lang="en-US" sz="11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Google Shape;233;p21"/>
          <p:cNvSpPr/>
          <p:nvPr/>
        </p:nvSpPr>
        <p:spPr>
          <a:xfrm>
            <a:off x="2181240" y="2867040"/>
            <a:ext cx="119988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F1FA8C"/>
                </a:solidFill>
                <a:effectLst/>
                <a:uFillTx/>
                <a:latin typeface="Fira Code"/>
                <a:ea typeface="Fira Code"/>
              </a:rPr>
              <a:t>"Choose 0-9: "</a:t>
            </a:r>
            <a:endParaRPr lang="en-US" sz="11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Google Shape;234;p21"/>
          <p:cNvSpPr/>
          <p:nvPr/>
        </p:nvSpPr>
        <p:spPr>
          <a:xfrm>
            <a:off x="981000" y="3057480"/>
            <a:ext cx="17100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FF79C6"/>
                </a:solidFill>
                <a:effectLst/>
                <a:uFillTx/>
                <a:latin typeface="Fira Code"/>
                <a:ea typeface="Fira Code"/>
              </a:rPr>
              <a:t>if</a:t>
            </a:r>
            <a:endParaRPr lang="en-US" sz="11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Google Shape;235;p21"/>
          <p:cNvSpPr/>
          <p:nvPr/>
        </p:nvSpPr>
        <p:spPr>
          <a:xfrm>
            <a:off x="1752480" y="3057480"/>
            <a:ext cx="17100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FF79C6"/>
                </a:solidFill>
                <a:effectLst/>
                <a:uFillTx/>
                <a:latin typeface="Fira Code"/>
                <a:ea typeface="Fira Code"/>
              </a:rPr>
              <a:t>in</a:t>
            </a:r>
            <a:endParaRPr lang="en-US" sz="11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Google Shape;236;p21"/>
          <p:cNvSpPr/>
          <p:nvPr/>
        </p:nvSpPr>
        <p:spPr>
          <a:xfrm>
            <a:off x="1152360" y="3247920"/>
            <a:ext cx="42840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FF79C6"/>
                </a:solidFill>
                <a:effectLst/>
                <a:uFillTx/>
                <a:latin typeface="Fira Code"/>
                <a:ea typeface="Fira Code"/>
              </a:rPr>
              <a:t>break</a:t>
            </a:r>
            <a:endParaRPr lang="en-US" sz="11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Google Shape;237;p21"/>
          <p:cNvSpPr/>
          <p:nvPr/>
        </p:nvSpPr>
        <p:spPr>
          <a:xfrm>
            <a:off x="981000" y="3438360"/>
            <a:ext cx="42840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50FA7B"/>
                </a:solidFill>
                <a:effectLst/>
                <a:uFillTx/>
                <a:latin typeface="Fira Code"/>
                <a:ea typeface="Fira Code"/>
              </a:rPr>
              <a:t>print</a:t>
            </a:r>
            <a:endParaRPr lang="en-US" sz="11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Google Shape;238;p21"/>
          <p:cNvSpPr/>
          <p:nvPr/>
        </p:nvSpPr>
        <p:spPr>
          <a:xfrm>
            <a:off x="1495440" y="3438360"/>
            <a:ext cx="145692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F1FA8C"/>
                </a:solidFill>
                <a:effectLst/>
                <a:uFillTx/>
                <a:latin typeface="Fira Code"/>
                <a:ea typeface="Fira Code"/>
              </a:rPr>
              <a:t>"Invalid choice!"</a:t>
            </a:r>
            <a:endParaRPr lang="en-US" sz="11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03;p 16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Google Shape;104;p 17"/>
          <p:cNvSpPr/>
          <p:nvPr/>
        </p:nvSpPr>
        <p:spPr>
          <a:xfrm>
            <a:off x="581040" y="2162160"/>
            <a:ext cx="9879120" cy="20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file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Step5.py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File &gt; Save As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 as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Step6.py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Change your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enemy = 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variable declarations into code that verifies if your input is valid.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Tip: For the first enemy, use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or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statements, but use the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in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keyword and list for Margit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Google Shape;113;p 10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While Loops: Your Turn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Google Shape;114;p 10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Google Shape;103;p 18"/>
          <p:cNvSpPr/>
          <p:nvPr/>
        </p:nvSpPr>
        <p:spPr>
          <a:xfrm>
            <a:off x="555120" y="448452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Running your 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Google Shape;104;p 18"/>
          <p:cNvSpPr/>
          <p:nvPr/>
        </p:nvSpPr>
        <p:spPr>
          <a:xfrm>
            <a:off x="485640" y="4916160"/>
            <a:ext cx="9879120" cy="17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terminal if it is not yet: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the icons that look similar to this: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the Terminal Tab in the window that opens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Run the program: python Step6.py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Instead of a number, try typing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uuddlrlrba 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as your input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5" name=""/>
          <p:cNvPicPr/>
          <p:nvPr/>
        </p:nvPicPr>
        <p:blipFill>
          <a:blip r:embed="rId1"/>
          <a:stretch/>
        </p:blipFill>
        <p:spPr>
          <a:xfrm>
            <a:off x="4221360" y="5353200"/>
            <a:ext cx="771120" cy="34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03;p 28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Google Shape;104;p 27"/>
          <p:cNvSpPr/>
          <p:nvPr/>
        </p:nvSpPr>
        <p:spPr>
          <a:xfrm>
            <a:off x="581040" y="2162160"/>
            <a:ext cx="987912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Go to the site: 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  <a:hlinkClick r:id="rId1"/>
              </a:rPr>
              <a:t>https://github.com/jemiller-iwcc/python-challenge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Use either the README.md file in your browser or download the PDF. Both contain the same data.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Follow the instructions that are within to make a multi-enemy boss battle.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You do not need to know anything more than what we learned yesterday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Google Shape;113;p 15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Coding Challenge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Google Shape;114;p 15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9;p 1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1" name="Google Shape;200;p 4"/>
          <p:cNvPicPr/>
          <p:nvPr/>
        </p:nvPicPr>
        <p:blipFill>
          <a:blip r:embed="rId2"/>
          <a:stretch/>
        </p:blipFill>
        <p:spPr>
          <a:xfrm>
            <a:off x="581040" y="1609560"/>
            <a:ext cx="11074320" cy="4849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2" name="Google Shape;204;p 2"/>
          <p:cNvPicPr/>
          <p:nvPr/>
        </p:nvPicPr>
        <p:blipFill>
          <a:blip r:embed="rId3"/>
          <a:stretch/>
        </p:blipFill>
        <p:spPr>
          <a:xfrm>
            <a:off x="5929560" y="1905120"/>
            <a:ext cx="333000" cy="38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3" name="Google Shape;205;p 2"/>
          <p:cNvSpPr/>
          <p:nvPr/>
        </p:nvSpPr>
        <p:spPr>
          <a:xfrm>
            <a:off x="3585960" y="2428920"/>
            <a:ext cx="502020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Nesting If Statements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Google Shape;218;p 2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THE HIDDEN RUNES: Nested If Statements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Google Shape;219;p 2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Google Shape;206;p 5"/>
          <p:cNvSpPr/>
          <p:nvPr/>
        </p:nvSpPr>
        <p:spPr>
          <a:xfrm>
            <a:off x="2337840" y="2865960"/>
            <a:ext cx="751608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If two unrelated things can make a statement true, then we can nest the if statements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7" name=""/>
          <p:cNvPicPr/>
          <p:nvPr/>
        </p:nvPicPr>
        <p:blipFill>
          <a:blip r:embed="rId4"/>
          <a:stretch/>
        </p:blipFill>
        <p:spPr>
          <a:xfrm>
            <a:off x="3168000" y="3467880"/>
            <a:ext cx="6229080" cy="1504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03;p 22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Google Shape;104;p 21"/>
          <p:cNvSpPr/>
          <p:nvPr/>
        </p:nvSpPr>
        <p:spPr>
          <a:xfrm>
            <a:off x="581040" y="2162160"/>
            <a:ext cx="9879120" cy="342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file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Step6.py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File &gt; Save As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 as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Step7.py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After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import random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, add a line with the variable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player_name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using input asking the player’s name, the variable to lower case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Under the first beast battle, under the else statement, nest an if/else statement where it checks if the value of player_name is “justin”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If the name is justin, let them win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If the name isn’t justin, then use the existing else “you died” sequence”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Copy and paste this code into the boss battle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Google Shape;113;p 12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Nested If Statements: Your Turn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Google Shape;114;p 12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Google Shape;103;p 24"/>
          <p:cNvSpPr/>
          <p:nvPr/>
        </p:nvSpPr>
        <p:spPr>
          <a:xfrm>
            <a:off x="6045120" y="531612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Running your 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Google Shape;104;p 23"/>
          <p:cNvSpPr/>
          <p:nvPr/>
        </p:nvSpPr>
        <p:spPr>
          <a:xfrm>
            <a:off x="6045120" y="5682240"/>
            <a:ext cx="987912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terminal if it is not yet: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Run the program: python Step7.py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199;p 2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5" name="Google Shape;200;p 2"/>
          <p:cNvPicPr/>
          <p:nvPr/>
        </p:nvPicPr>
        <p:blipFill>
          <a:blip r:embed="rId2"/>
          <a:stretch/>
        </p:blipFill>
        <p:spPr>
          <a:xfrm>
            <a:off x="581040" y="1609560"/>
            <a:ext cx="11074320" cy="4849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6" name="Google Shape;204;p 3"/>
          <p:cNvPicPr/>
          <p:nvPr/>
        </p:nvPicPr>
        <p:blipFill>
          <a:blip r:embed="rId3"/>
          <a:stretch/>
        </p:blipFill>
        <p:spPr>
          <a:xfrm>
            <a:off x="5929560" y="1905120"/>
            <a:ext cx="333000" cy="38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7" name="Google Shape;205;p 3"/>
          <p:cNvSpPr/>
          <p:nvPr/>
        </p:nvSpPr>
        <p:spPr>
          <a:xfrm>
            <a:off x="3585960" y="2428920"/>
            <a:ext cx="502020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Elif Statements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Google Shape;218;p 3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THE HIDDEN RUNES: elif Statements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Google Shape;219;p 3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Google Shape;206;p 2"/>
          <p:cNvSpPr/>
          <p:nvPr/>
        </p:nvSpPr>
        <p:spPr>
          <a:xfrm>
            <a:off x="2337840" y="2865960"/>
            <a:ext cx="751608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The other option for an if statement is called elif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1" name=""/>
          <p:cNvPicPr/>
          <p:nvPr/>
        </p:nvPicPr>
        <p:blipFill>
          <a:blip r:embed="rId4"/>
          <a:stretch/>
        </p:blipFill>
        <p:spPr>
          <a:xfrm>
            <a:off x="4235760" y="3540240"/>
            <a:ext cx="3876480" cy="1837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103;p 23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Google Shape;104;p 22"/>
          <p:cNvSpPr/>
          <p:nvPr/>
        </p:nvSpPr>
        <p:spPr>
          <a:xfrm>
            <a:off x="581040" y="2162160"/>
            <a:ext cx="9879120" cy="20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file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Step7.py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File &gt; Save As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 as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Step8.py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After the if statement, but before the else, add an elif code block that checks if the variable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player_name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matches your name in lower case.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If the name matches, let yourself win!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Google Shape;113;p 13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Elif Statements: Your Turn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Google Shape;114;p 13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Google Shape;103;p 25"/>
          <p:cNvSpPr/>
          <p:nvPr/>
        </p:nvSpPr>
        <p:spPr>
          <a:xfrm>
            <a:off x="546480" y="446760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Running your 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Google Shape;104;p 24"/>
          <p:cNvSpPr/>
          <p:nvPr/>
        </p:nvSpPr>
        <p:spPr>
          <a:xfrm>
            <a:off x="546480" y="4833720"/>
            <a:ext cx="987912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terminal if it is not yet: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Run the program: python Step8.py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8" name="Google Shape;224;p 1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9" name="Google Shape;226;p 2"/>
          <p:cNvSpPr/>
          <p:nvPr/>
        </p:nvSpPr>
        <p:spPr>
          <a:xfrm>
            <a:off x="581040" y="581040"/>
            <a:ext cx="519012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Dictionary Entries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Google Shape;227;p 2"/>
          <p:cNvSpPr/>
          <p:nvPr/>
        </p:nvSpPr>
        <p:spPr>
          <a:xfrm>
            <a:off x="581040" y="1219320"/>
            <a:ext cx="494316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1" name="Google Shape;228;p 2"/>
          <p:cNvPicPr/>
          <p:nvPr/>
        </p:nvPicPr>
        <p:blipFill>
          <a:blip r:embed="rId2"/>
          <a:stretch/>
        </p:blipFill>
        <p:spPr>
          <a:xfrm>
            <a:off x="6095880" y="9360"/>
            <a:ext cx="60861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Google Shape;229;p 2"/>
          <p:cNvSpPr/>
          <p:nvPr/>
        </p:nvSpPr>
        <p:spPr>
          <a:xfrm>
            <a:off x="581040" y="1609560"/>
            <a:ext cx="494316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 9: Dictionary entries allow for multiple values in a variable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Google Shape;230;p 2"/>
          <p:cNvSpPr/>
          <p:nvPr/>
        </p:nvSpPr>
        <p:spPr>
          <a:xfrm>
            <a:off x="581040" y="3962520"/>
            <a:ext cx="494316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We will use this to create the Samurai Class in our Code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4" name=""/>
          <p:cNvPicPr/>
          <p:nvPr/>
        </p:nvPicPr>
        <p:blipFill>
          <a:blip r:embed="rId3"/>
          <a:stretch/>
        </p:blipFill>
        <p:spPr>
          <a:xfrm>
            <a:off x="1200600" y="2397960"/>
            <a:ext cx="2076120" cy="1133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103;p 20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Google Shape;104;p 19"/>
          <p:cNvSpPr/>
          <p:nvPr/>
        </p:nvSpPr>
        <p:spPr>
          <a:xfrm>
            <a:off x="581040" y="2162160"/>
            <a:ext cx="98791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file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Step8.py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File &gt; Save As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 as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Step9.py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Step9_pseudocode.py and use the instructions in there to help you create an entry for the Samurai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Google Shape;113;p 11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Dictionary Entries: Your Turn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Google Shape;114;p 11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Google Shape;103;p 21"/>
          <p:cNvSpPr/>
          <p:nvPr/>
        </p:nvSpPr>
        <p:spPr>
          <a:xfrm>
            <a:off x="546480" y="446760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Running your 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Google Shape;104;p 20"/>
          <p:cNvSpPr/>
          <p:nvPr/>
        </p:nvSpPr>
        <p:spPr>
          <a:xfrm>
            <a:off x="546480" y="4833720"/>
            <a:ext cx="987912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terminal if it is not yet: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Run the program: python Step9.py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" name="Google Shape;224;p 2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Google Shape;226;p 3"/>
          <p:cNvSpPr/>
          <p:nvPr/>
        </p:nvSpPr>
        <p:spPr>
          <a:xfrm>
            <a:off x="581040" y="581040"/>
            <a:ext cx="5190120" cy="96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Dictionary Entries with Multiple Entries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Google Shape;227;p 3"/>
          <p:cNvSpPr/>
          <p:nvPr/>
        </p:nvSpPr>
        <p:spPr>
          <a:xfrm>
            <a:off x="581040" y="1579320"/>
            <a:ext cx="494316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4" name="Google Shape;228;p 3"/>
          <p:cNvPicPr/>
          <p:nvPr/>
        </p:nvPicPr>
        <p:blipFill>
          <a:blip r:embed="rId2"/>
          <a:stretch/>
        </p:blipFill>
        <p:spPr>
          <a:xfrm>
            <a:off x="6095880" y="9360"/>
            <a:ext cx="60861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5" name="Google Shape;229;p 3"/>
          <p:cNvSpPr/>
          <p:nvPr/>
        </p:nvSpPr>
        <p:spPr>
          <a:xfrm>
            <a:off x="581040" y="1609560"/>
            <a:ext cx="494316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 10: Dictionary entries allow for multiple values in a variable: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Google Shape;230;p 3"/>
          <p:cNvSpPr/>
          <p:nvPr/>
        </p:nvSpPr>
        <p:spPr>
          <a:xfrm>
            <a:off x="581040" y="3962520"/>
            <a:ext cx="494316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Using this, we can select from multiple classes in our code.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7" name=""/>
          <p:cNvPicPr/>
          <p:nvPr/>
        </p:nvPicPr>
        <p:blipFill>
          <a:blip r:embed="rId3"/>
          <a:stretch/>
        </p:blipFill>
        <p:spPr>
          <a:xfrm>
            <a:off x="171720" y="2449440"/>
            <a:ext cx="5777280" cy="1161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Google Shape;243;p22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" name="Google Shape;245;p22"/>
          <p:cNvSpPr/>
          <p:nvPr/>
        </p:nvSpPr>
        <p:spPr>
          <a:xfrm>
            <a:off x="581040" y="1609560"/>
            <a:ext cx="1102968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 10: Dictionaries.</a:t>
            </a: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 We store character classes in an associative array (key-value pairs).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0" name="Google Shape;246;p22"/>
          <p:cNvGraphicFramePr/>
          <p:nvPr/>
        </p:nvGraphicFramePr>
        <p:xfrm>
          <a:off x="581040" y="2038320"/>
          <a:ext cx="11029320" cy="2313720"/>
        </p:xfrm>
        <a:graphic>
          <a:graphicData uri="http://schemas.openxmlformats.org/drawingml/2006/table">
            <a:tbl>
              <a:tblPr/>
              <a:tblGrid>
                <a:gridCol w="2281680"/>
                <a:gridCol w="3595680"/>
                <a:gridCol w="2005200"/>
                <a:gridCol w="3147120"/>
              </a:tblGrid>
              <a:tr h="57852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C5A059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Key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3D3422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C5A059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Type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3D3422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C5A059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HP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3D3422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C5A059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Attack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3D3422"/>
                    </a:solidFill>
                  </a:tcPr>
                </a:tc>
              </a:tr>
              <a:tr h="57852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"1"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Samurai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10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20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57852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"2"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Prisoner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20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4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E8ECF4"/>
                    </a:solidFill>
                  </a:tcPr>
                </a:tc>
              </a:tr>
              <a:tr h="578520"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"3"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Prophet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30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Lato"/>
                          <a:ea typeface="Lato"/>
                        </a:rPr>
                        <a:t>4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</a:tbl>
          </a:graphicData>
        </a:graphic>
      </p:graphicFrame>
      <p:sp>
        <p:nvSpPr>
          <p:cNvPr id="241" name="Google Shape;254;p22"/>
          <p:cNvSpPr/>
          <p:nvPr/>
        </p:nvSpPr>
        <p:spPr>
          <a:xfrm>
            <a:off x="581040" y="3176640"/>
            <a:ext cx="2281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Google Shape;255;p22"/>
          <p:cNvSpPr/>
          <p:nvPr/>
        </p:nvSpPr>
        <p:spPr>
          <a:xfrm>
            <a:off x="2863080" y="3176640"/>
            <a:ext cx="359532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Google Shape;256;p22"/>
          <p:cNvSpPr/>
          <p:nvPr/>
        </p:nvSpPr>
        <p:spPr>
          <a:xfrm>
            <a:off x="6458760" y="3176640"/>
            <a:ext cx="200484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Google Shape;257;p22"/>
          <p:cNvSpPr/>
          <p:nvPr/>
        </p:nvSpPr>
        <p:spPr>
          <a:xfrm>
            <a:off x="8464320" y="3176640"/>
            <a:ext cx="314640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Google Shape;258;p22"/>
          <p:cNvSpPr/>
          <p:nvPr/>
        </p:nvSpPr>
        <p:spPr>
          <a:xfrm>
            <a:off x="581040" y="3757680"/>
            <a:ext cx="2281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Google Shape;259;p22"/>
          <p:cNvSpPr/>
          <p:nvPr/>
        </p:nvSpPr>
        <p:spPr>
          <a:xfrm>
            <a:off x="2863080" y="3757680"/>
            <a:ext cx="359532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Google Shape;260;p22"/>
          <p:cNvSpPr/>
          <p:nvPr/>
        </p:nvSpPr>
        <p:spPr>
          <a:xfrm>
            <a:off x="6458760" y="3757680"/>
            <a:ext cx="200484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Google Shape;261;p22"/>
          <p:cNvSpPr/>
          <p:nvPr/>
        </p:nvSpPr>
        <p:spPr>
          <a:xfrm>
            <a:off x="8464320" y="3757680"/>
            <a:ext cx="314640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Google Shape;262;p22"/>
          <p:cNvSpPr/>
          <p:nvPr/>
        </p:nvSpPr>
        <p:spPr>
          <a:xfrm>
            <a:off x="581040" y="4338720"/>
            <a:ext cx="2281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Google Shape;263;p22"/>
          <p:cNvSpPr/>
          <p:nvPr/>
        </p:nvSpPr>
        <p:spPr>
          <a:xfrm>
            <a:off x="2863080" y="4338720"/>
            <a:ext cx="359532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Google Shape;264;p22"/>
          <p:cNvSpPr/>
          <p:nvPr/>
        </p:nvSpPr>
        <p:spPr>
          <a:xfrm>
            <a:off x="6458760" y="4338720"/>
            <a:ext cx="200484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Google Shape;265;p22"/>
          <p:cNvSpPr/>
          <p:nvPr/>
        </p:nvSpPr>
        <p:spPr>
          <a:xfrm>
            <a:off x="8464320" y="4338720"/>
            <a:ext cx="314640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Google Shape;266;p22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THE ARCHIVES OF STATS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Google Shape;267;p22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103;p 26"/>
          <p:cNvSpPr/>
          <p:nvPr/>
        </p:nvSpPr>
        <p:spPr>
          <a:xfrm>
            <a:off x="581040" y="160956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Google Shape;104;p 25"/>
          <p:cNvSpPr/>
          <p:nvPr/>
        </p:nvSpPr>
        <p:spPr>
          <a:xfrm>
            <a:off x="581040" y="2162160"/>
            <a:ext cx="98791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file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Step9.py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Click File &gt; Save As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Save the file as </a:t>
            </a:r>
            <a:r>
              <a:rPr lang="en-US" sz="1500" b="0" i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Step10.py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Step10_pseudocode.py and use the instructions in there to help you create an entry for the Samurai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Google Shape;113;p 14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Dictionary Entries: Your Turn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Google Shape;114;p 14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Google Shape;103;p 27"/>
          <p:cNvSpPr/>
          <p:nvPr/>
        </p:nvSpPr>
        <p:spPr>
          <a:xfrm>
            <a:off x="546480" y="4467600"/>
            <a:ext cx="5590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5F5F5"/>
                </a:solidFill>
                <a:effectLst/>
                <a:uFillTx/>
                <a:latin typeface="Cinzel"/>
                <a:ea typeface="Cinzel"/>
              </a:rPr>
              <a:t>Running your Code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Google Shape;104;p 26"/>
          <p:cNvSpPr/>
          <p:nvPr/>
        </p:nvSpPr>
        <p:spPr>
          <a:xfrm>
            <a:off x="546480" y="4833720"/>
            <a:ext cx="987912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Open the terminal if it is not yet: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Run the program: python Step10.py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72;p23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2" name="Google Shape;273;p23"/>
          <p:cNvPicPr/>
          <p:nvPr/>
        </p:nvPicPr>
        <p:blipFill>
          <a:blip r:embed="rId2"/>
          <a:stretch/>
        </p:blipFill>
        <p:spPr>
          <a:xfrm>
            <a:off x="2647800" y="1805040"/>
            <a:ext cx="6895800" cy="324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3" name="Google Shape;274;p23"/>
          <p:cNvSpPr/>
          <p:nvPr/>
        </p:nvSpPr>
        <p:spPr>
          <a:xfrm>
            <a:off x="3095640" y="2395440"/>
            <a:ext cx="6000480" cy="73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ELDEN LORD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Google Shape;275;p23"/>
          <p:cNvSpPr/>
          <p:nvPr/>
        </p:nvSpPr>
        <p:spPr>
          <a:xfrm>
            <a:off x="3238560" y="3214800"/>
            <a:ext cx="57146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The Journey Complete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Google Shape;276;p23"/>
          <p:cNvSpPr/>
          <p:nvPr/>
        </p:nvSpPr>
        <p:spPr>
          <a:xfrm>
            <a:off x="3238560" y="3747960"/>
            <a:ext cx="571464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DDDDD"/>
                </a:solidFill>
                <a:effectLst/>
                <a:uFillTx/>
                <a:latin typeface="Lato"/>
                <a:ea typeface="Lato"/>
              </a:rPr>
              <a:t>You have mastered input, variables, logic, loops, and data structures. The Lands Between are yours to command.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24;p 3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7" name="Google Shape;226;p 4"/>
          <p:cNvSpPr/>
          <p:nvPr/>
        </p:nvSpPr>
        <p:spPr>
          <a:xfrm>
            <a:off x="581040" y="581040"/>
            <a:ext cx="5190120" cy="96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Where do we Go From here?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Google Shape;227;p 4"/>
          <p:cNvSpPr/>
          <p:nvPr/>
        </p:nvSpPr>
        <p:spPr>
          <a:xfrm>
            <a:off x="581040" y="1579320"/>
            <a:ext cx="494316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9" name="Google Shape;228;p 4"/>
          <p:cNvPicPr/>
          <p:nvPr/>
        </p:nvPicPr>
        <p:blipFill>
          <a:blip r:embed="rId2"/>
          <a:stretch/>
        </p:blipFill>
        <p:spPr>
          <a:xfrm>
            <a:off x="6095880" y="9360"/>
            <a:ext cx="60861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0" name="Google Shape;229;p 4"/>
          <p:cNvSpPr/>
          <p:nvPr/>
        </p:nvSpPr>
        <p:spPr>
          <a:xfrm>
            <a:off x="581040" y="1609560"/>
            <a:ext cx="4943160" cy="445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We don’t have time to get into more detail in this course and actually use these dictionary entries.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But you can build it on your own if you want!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As a bonus, I have a completed a version of the code that you can play and use. It has all the features we learned plus one we didn’t cover: functions.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You can get it here: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  <a:hlinkClick r:id="rId3"/>
              </a:rPr>
              <a:t>https://github.com/jemiller-iwcc/python-elden-ring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All code solutions, pseudocode, and these slides are on the site.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1" name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571080" y="813960"/>
            <a:ext cx="5065560" cy="5065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2" name="Google Shape;281;p24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3" name="Google Shape;282;p24"/>
          <p:cNvPicPr/>
          <p:nvPr/>
        </p:nvPicPr>
        <p:blipFill>
          <a:blip r:embed="rId2"/>
          <a:stretch/>
        </p:blipFill>
        <p:spPr>
          <a:xfrm>
            <a:off x="5810400" y="2328840"/>
            <a:ext cx="571320" cy="761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4" name="Google Shape;283;p24"/>
          <p:cNvSpPr/>
          <p:nvPr/>
        </p:nvSpPr>
        <p:spPr>
          <a:xfrm>
            <a:off x="3845880" y="3281400"/>
            <a:ext cx="450036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QUESTIONS?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Google Shape;284;p24"/>
          <p:cNvSpPr/>
          <p:nvPr/>
        </p:nvSpPr>
        <p:spPr>
          <a:xfrm>
            <a:off x="3952800" y="3586320"/>
            <a:ext cx="428580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Thy quest continues in the terminal.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Google Shape;285;p24"/>
          <p:cNvSpPr/>
          <p:nvPr/>
        </p:nvSpPr>
        <p:spPr>
          <a:xfrm>
            <a:off x="3952800" y="4348080"/>
            <a:ext cx="428580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D3422"/>
                </a:solidFill>
                <a:effectLst/>
                <a:uFillTx/>
                <a:latin typeface="Lato"/>
                <a:ea typeface="Lato"/>
              </a:rPr>
              <a:t>Justin E. Miller, </a:t>
            </a:r>
            <a:r>
              <a:rPr lang="en-US" sz="1200" b="0" u="none" strike="noStrike">
                <a:solidFill>
                  <a:srgbClr val="3D3422"/>
                </a:solidFill>
                <a:effectLst/>
                <a:uFillTx/>
                <a:latin typeface="Lato"/>
                <a:ea typeface="Lato"/>
                <a:hlinkClick r:id="rId3"/>
              </a:rPr>
              <a:t>jemiller@iwcc.edu</a:t>
            </a:r>
            <a:r>
              <a:rPr lang="en-US" sz="1200" b="0" u="none" strike="noStrike">
                <a:solidFill>
                  <a:srgbClr val="3D3422"/>
                </a:solidFill>
                <a:effectLst/>
                <a:uFillTx/>
                <a:latin typeface="Lato"/>
                <a:ea typeface="Lato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7" name="Google Shape;290;p25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8" name="Google Shape;291;p25"/>
          <p:cNvSpPr/>
          <p:nvPr/>
        </p:nvSpPr>
        <p:spPr>
          <a:xfrm>
            <a:off x="581040" y="1609560"/>
            <a:ext cx="11029680" cy="77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Google Shape;292;p25"/>
          <p:cNvSpPr/>
          <p:nvPr/>
        </p:nvSpPr>
        <p:spPr>
          <a:xfrm>
            <a:off x="581040" y="2381400"/>
            <a:ext cx="11029680" cy="77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Google Shape;293;p25"/>
          <p:cNvSpPr/>
          <p:nvPr/>
        </p:nvSpPr>
        <p:spPr>
          <a:xfrm>
            <a:off x="581040" y="3152880"/>
            <a:ext cx="11029680" cy="77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Google Shape;294;p25"/>
          <p:cNvSpPr/>
          <p:nvPr/>
        </p:nvSpPr>
        <p:spPr>
          <a:xfrm>
            <a:off x="581040" y="3924360"/>
            <a:ext cx="11029680" cy="77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Google Shape;295;p25"/>
          <p:cNvSpPr/>
          <p:nvPr/>
        </p:nvSpPr>
        <p:spPr>
          <a:xfrm>
            <a:off x="581040" y="2371680"/>
            <a:ext cx="11029680" cy="9000"/>
          </a:xfrm>
          <a:prstGeom prst="rect">
            <a:avLst/>
          </a:prstGeom>
          <a:solidFill>
            <a:srgbClr val="7575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Google Shape;296;p25"/>
          <p:cNvSpPr/>
          <p:nvPr/>
        </p:nvSpPr>
        <p:spPr>
          <a:xfrm>
            <a:off x="581040" y="2371680"/>
            <a:ext cx="11029680" cy="9000"/>
          </a:xfrm>
          <a:prstGeom prst="rect">
            <a:avLst/>
          </a:prstGeom>
          <a:solidFill>
            <a:srgbClr val="7575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Google Shape;297;p25"/>
          <p:cNvSpPr/>
          <p:nvPr/>
        </p:nvSpPr>
        <p:spPr>
          <a:xfrm>
            <a:off x="581040" y="3143160"/>
            <a:ext cx="11029680" cy="9000"/>
          </a:xfrm>
          <a:prstGeom prst="rect">
            <a:avLst/>
          </a:prstGeom>
          <a:solidFill>
            <a:srgbClr val="7575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Google Shape;298;p25"/>
          <p:cNvSpPr/>
          <p:nvPr/>
        </p:nvSpPr>
        <p:spPr>
          <a:xfrm>
            <a:off x="581040" y="3143160"/>
            <a:ext cx="11029680" cy="9000"/>
          </a:xfrm>
          <a:prstGeom prst="rect">
            <a:avLst/>
          </a:prstGeom>
          <a:solidFill>
            <a:srgbClr val="7575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Google Shape;299;p25"/>
          <p:cNvSpPr/>
          <p:nvPr/>
        </p:nvSpPr>
        <p:spPr>
          <a:xfrm>
            <a:off x="581040" y="3914640"/>
            <a:ext cx="11029680" cy="9000"/>
          </a:xfrm>
          <a:prstGeom prst="rect">
            <a:avLst/>
          </a:prstGeom>
          <a:solidFill>
            <a:srgbClr val="7575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Google Shape;300;p25"/>
          <p:cNvSpPr/>
          <p:nvPr/>
        </p:nvSpPr>
        <p:spPr>
          <a:xfrm>
            <a:off x="581040" y="3914640"/>
            <a:ext cx="11029680" cy="9000"/>
          </a:xfrm>
          <a:prstGeom prst="rect">
            <a:avLst/>
          </a:prstGeom>
          <a:solidFill>
            <a:srgbClr val="7575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Google Shape;301;p25"/>
          <p:cNvSpPr/>
          <p:nvPr/>
        </p:nvSpPr>
        <p:spPr>
          <a:xfrm>
            <a:off x="581040" y="4686480"/>
            <a:ext cx="11029680" cy="9000"/>
          </a:xfrm>
          <a:prstGeom prst="rect">
            <a:avLst/>
          </a:prstGeom>
          <a:solidFill>
            <a:srgbClr val="7575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Google Shape;302;p25"/>
          <p:cNvSpPr/>
          <p:nvPr/>
        </p:nvSpPr>
        <p:spPr>
          <a:xfrm>
            <a:off x="581040" y="4686480"/>
            <a:ext cx="11029680" cy="9000"/>
          </a:xfrm>
          <a:prstGeom prst="rect">
            <a:avLst/>
          </a:prstGeom>
          <a:solidFill>
            <a:srgbClr val="7575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0" name="Google Shape;303;p25"/>
          <p:cNvPicPr/>
          <p:nvPr/>
        </p:nvPicPr>
        <p:blipFill>
          <a:blip r:embed="rId2"/>
          <a:stretch/>
        </p:blipFill>
        <p:spPr>
          <a:xfrm>
            <a:off x="581040" y="1752480"/>
            <a:ext cx="856800" cy="47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Google Shape;304;p25"/>
          <p:cNvSpPr/>
          <p:nvPr/>
        </p:nvSpPr>
        <p:spPr>
          <a:xfrm>
            <a:off x="1676520" y="1759680"/>
            <a:ext cx="9934200" cy="22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https://eldenring.wiki.fextralife.com/file/Elden-Ring/samurai_class_elden_ring_wiki_guide_270px.png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Google Shape;305;p25"/>
          <p:cNvSpPr/>
          <p:nvPr/>
        </p:nvSpPr>
        <p:spPr>
          <a:xfrm>
            <a:off x="1676520" y="1992960"/>
            <a:ext cx="993420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Source: </a:t>
            </a:r>
            <a:r>
              <a:rPr lang="en-US" sz="1200" b="0" u="none" strike="noStrike">
                <a:solidFill>
                  <a:srgbClr val="4F46E5"/>
                </a:solidFill>
                <a:effectLst/>
                <a:uFillTx/>
                <a:latin typeface="Lato"/>
                <a:ea typeface="Lato"/>
              </a:rPr>
              <a:t>eldenring.wiki.fextralife.com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3" name="Google Shape;306;p25"/>
          <p:cNvPicPr/>
          <p:nvPr/>
        </p:nvPicPr>
        <p:blipFill>
          <a:blip r:embed="rId3"/>
          <a:stretch/>
        </p:blipFill>
        <p:spPr>
          <a:xfrm>
            <a:off x="581040" y="2523960"/>
            <a:ext cx="856800" cy="47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4" name="Google Shape;307;p25"/>
          <p:cNvSpPr/>
          <p:nvPr/>
        </p:nvSpPr>
        <p:spPr>
          <a:xfrm>
            <a:off x="1676520" y="2531160"/>
            <a:ext cx="9934200" cy="22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https://i.redd.it/rktzg4cigl991.jpg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Google Shape;308;p25"/>
          <p:cNvSpPr/>
          <p:nvPr/>
        </p:nvSpPr>
        <p:spPr>
          <a:xfrm>
            <a:off x="1676520" y="2764800"/>
            <a:ext cx="993420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Source: </a:t>
            </a:r>
            <a:r>
              <a:rPr lang="en-US" sz="1200" b="0" u="none" strike="noStrike">
                <a:solidFill>
                  <a:srgbClr val="4F46E5"/>
                </a:solidFill>
                <a:effectLst/>
                <a:uFillTx/>
                <a:latin typeface="Lato"/>
                <a:ea typeface="Lato"/>
              </a:rPr>
              <a:t>www.reddit.com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6" name="Google Shape;309;p25"/>
          <p:cNvPicPr/>
          <p:nvPr/>
        </p:nvPicPr>
        <p:blipFill>
          <a:blip r:embed="rId4"/>
          <a:stretch/>
        </p:blipFill>
        <p:spPr>
          <a:xfrm>
            <a:off x="581040" y="3295800"/>
            <a:ext cx="856800" cy="47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7" name="Google Shape;310;p25"/>
          <p:cNvSpPr/>
          <p:nvPr/>
        </p:nvSpPr>
        <p:spPr>
          <a:xfrm>
            <a:off x="1676520" y="3302640"/>
            <a:ext cx="9934200" cy="22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https://png.pngtree.com/thumb_back/fh260/background/20200724/pngtree-background-brown-dark-parchment-texture-image_364033.jpg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Google Shape;311;p25"/>
          <p:cNvSpPr/>
          <p:nvPr/>
        </p:nvSpPr>
        <p:spPr>
          <a:xfrm>
            <a:off x="1676520" y="3536280"/>
            <a:ext cx="993420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Source: </a:t>
            </a:r>
            <a:r>
              <a:rPr lang="en-US" sz="1200" b="0" u="none" strike="noStrike">
                <a:solidFill>
                  <a:srgbClr val="4F46E5"/>
                </a:solidFill>
                <a:effectLst/>
                <a:uFillTx/>
                <a:latin typeface="Lato"/>
                <a:ea typeface="Lato"/>
              </a:rPr>
              <a:t>pngtree.com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9" name="Google Shape;312;p25"/>
          <p:cNvPicPr/>
          <p:nvPr/>
        </p:nvPicPr>
        <p:blipFill>
          <a:blip r:embed="rId5"/>
          <a:stretch/>
        </p:blipFill>
        <p:spPr>
          <a:xfrm>
            <a:off x="581040" y="4067280"/>
            <a:ext cx="856800" cy="47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0" name="Google Shape;313;p25"/>
          <p:cNvSpPr/>
          <p:nvPr/>
        </p:nvSpPr>
        <p:spPr>
          <a:xfrm>
            <a:off x="1676520" y="4074480"/>
            <a:ext cx="9934200" cy="22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https://images4.alphacoders.com/121/thumb-1920-1214929.jpg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Google Shape;314;p25"/>
          <p:cNvSpPr/>
          <p:nvPr/>
        </p:nvSpPr>
        <p:spPr>
          <a:xfrm>
            <a:off x="1676520" y="4307760"/>
            <a:ext cx="993420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Source: </a:t>
            </a:r>
            <a:r>
              <a:rPr lang="en-US" sz="1200" b="0" u="none" strike="noStrike">
                <a:solidFill>
                  <a:srgbClr val="4F46E5"/>
                </a:solidFill>
                <a:effectLst/>
                <a:uFillTx/>
                <a:latin typeface="Lato"/>
                <a:ea typeface="Lato"/>
              </a:rPr>
              <a:t>wall.alphacoders.com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2" name="Google Shape;315;p25"/>
          <p:cNvPicPr/>
          <p:nvPr/>
        </p:nvPicPr>
        <p:blipFill>
          <a:blip r:embed="rId6"/>
          <a:stretch/>
        </p:blipFill>
        <p:spPr>
          <a:xfrm>
            <a:off x="581040" y="4838760"/>
            <a:ext cx="856800" cy="47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3" name="Google Shape;316;p25"/>
          <p:cNvSpPr/>
          <p:nvPr/>
        </p:nvSpPr>
        <p:spPr>
          <a:xfrm>
            <a:off x="1676520" y="4845960"/>
            <a:ext cx="9934200" cy="22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9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https://cdn.mos.cms.futurecdn.net/GUwnMR2gDjdhWbTdzr9f5C-1200-80.jpg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Google Shape;317;p25"/>
          <p:cNvSpPr/>
          <p:nvPr/>
        </p:nvSpPr>
        <p:spPr>
          <a:xfrm>
            <a:off x="1676520" y="5079240"/>
            <a:ext cx="993420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D1D1D1"/>
                </a:solidFill>
                <a:effectLst/>
                <a:uFillTx/>
                <a:latin typeface="Lato"/>
                <a:ea typeface="Lato"/>
              </a:rPr>
              <a:t>Source: </a:t>
            </a:r>
            <a:r>
              <a:rPr lang="en-US" sz="1200" b="0" u="none" strike="noStrike">
                <a:solidFill>
                  <a:srgbClr val="4F46E5"/>
                </a:solidFill>
                <a:effectLst/>
                <a:uFillTx/>
                <a:latin typeface="Lato"/>
                <a:ea typeface="Lato"/>
              </a:rPr>
              <a:t>www.windowscentral.com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Google Shape;318;p25"/>
          <p:cNvSpPr/>
          <p:nvPr/>
        </p:nvSpPr>
        <p:spPr>
          <a:xfrm>
            <a:off x="581040" y="581040"/>
            <a:ext cx="11581200" cy="4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150" b="1" u="none" strike="noStrike">
                <a:solidFill>
                  <a:srgbClr val="C5A059"/>
                </a:solidFill>
                <a:effectLst/>
                <a:uFillTx/>
                <a:latin typeface="Cinzel"/>
                <a:ea typeface="Cinzel"/>
              </a:rPr>
              <a:t>SOURCES</a:t>
            </a:r>
            <a:endParaRPr lang="en-US" sz="3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Google Shape;319;p25"/>
          <p:cNvSpPr/>
          <p:nvPr/>
        </p:nvSpPr>
        <p:spPr>
          <a:xfrm>
            <a:off x="581040" y="1219320"/>
            <a:ext cx="11029680" cy="9000"/>
          </a:xfrm>
          <a:prstGeom prst="rect">
            <a:avLst/>
          </a:prstGeom>
          <a:solidFill>
            <a:srgbClr val="3D34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-36360" bIns="-36360" anchor="ctr">
            <a:noAutofit/>
          </a:bodyPr>
          <a:p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469440" y="5487120"/>
            <a:ext cx="5135760" cy="602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Inspired by Network Chuck: https://www.youtube.com/watch?v=Fq6gqi9Ubog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298</TotalTime>
  <Application>LibreOffice/26.2.4.2$Linux_X86_64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2026-06-17T08:32:17Z</dcterms:modified>
  <cp:revision>14</cp:revision>
  <dc:subject/>
  <dc:title/>
</cp:coreProperties>
</file>